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7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1" r:id="rId11"/>
    <p:sldId id="272" r:id="rId12"/>
    <p:sldId id="273" r:id="rId13"/>
    <p:sldId id="264" r:id="rId14"/>
    <p:sldId id="275" r:id="rId15"/>
    <p:sldId id="274" r:id="rId16"/>
    <p:sldId id="265" r:id="rId17"/>
    <p:sldId id="276" r:id="rId18"/>
    <p:sldId id="277" r:id="rId19"/>
    <p:sldId id="278" r:id="rId20"/>
    <p:sldId id="266" r:id="rId21"/>
    <p:sldId id="267" r:id="rId22"/>
    <p:sldId id="268" r:id="rId23"/>
    <p:sldId id="269" r:id="rId24"/>
    <p:sldId id="270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6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5E3E1E-FE31-4A54-9B66-8E0DD7A45123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2910CE-2050-4EC8-A9E0-28F83645D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8989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2910CE-2050-4EC8-A9E0-28F83645DD2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3883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2N4ECR-OmVI?feature=oembed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309" name="Rectangle 12308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294" name="Picture 6" descr="F1 pitstop front wing change Daniil Kvyat Alpha Tauri 2020">
            <a:extLst>
              <a:ext uri="{FF2B5EF4-FFF2-40B4-BE49-F238E27FC236}">
                <a16:creationId xmlns:a16="http://schemas.microsoft.com/office/drawing/2014/main" id="{36C395A2-4C45-6B28-E69C-253155488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16" t="9091" r="27251"/>
          <a:stretch>
            <a:fillRect/>
          </a:stretch>
        </p:blipFill>
        <p:spPr bwMode="auto">
          <a:xfrm>
            <a:off x="2641851" y="10"/>
            <a:ext cx="650214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310" name="Rectangle 12309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731745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8320" y="1161288"/>
            <a:ext cx="2578608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400">
                <a:solidFill>
                  <a:schemeClr val="bg1"/>
                </a:solidFill>
              </a:rPr>
              <a:t>Evolution of Pit Stop Strategies in Formula 1</a:t>
            </a:r>
          </a:p>
        </p:txBody>
      </p:sp>
      <p:sp>
        <p:nvSpPr>
          <p:cNvPr id="12311" name="Rectangle 12310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87775" y="674370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312" name="Rectangle 1231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183" y="2443480"/>
            <a:ext cx="2475738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8320" y="3456422"/>
            <a:ext cx="2579180" cy="246889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Presented by: </a:t>
            </a:r>
          </a:p>
          <a:p>
            <a:pPr algn="l" defTabSz="914400">
              <a:lnSpc>
                <a:spcPct val="90000"/>
              </a:lnSpc>
            </a:pPr>
            <a:r>
              <a:rPr lang="en-US" sz="1600" dirty="0">
                <a:solidFill>
                  <a:schemeClr val="bg1"/>
                </a:solidFill>
              </a:rPr>
              <a:t>       Faiz Karol(743555)</a:t>
            </a:r>
          </a:p>
          <a:p>
            <a:pPr algn="l" defTabSz="914400">
              <a:lnSpc>
                <a:spcPct val="90000"/>
              </a:lnSpc>
            </a:pPr>
            <a:r>
              <a:rPr lang="en-US" sz="1600" dirty="0">
                <a:solidFill>
                  <a:schemeClr val="bg1"/>
                </a:solidFill>
              </a:rPr>
              <a:t>       </a:t>
            </a:r>
          </a:p>
          <a:p>
            <a:pPr marL="2857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Date: 28.06.2025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C9D962-F904-4553-A140-500CF3EFC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2FE0FA2-B10C-4B9F-B9CC-E5D9AD400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1314048">
            <a:off x="-203652" y="-884980"/>
            <a:ext cx="9482078" cy="6248341"/>
          </a:xfrm>
          <a:custGeom>
            <a:avLst/>
            <a:gdLst>
              <a:gd name="connsiteX0" fmla="*/ 12642772 w 12642772"/>
              <a:gd name="connsiteY0" fmla="*/ 4432052 h 6248341"/>
              <a:gd name="connsiteX1" fmla="*/ 586822 w 12642772"/>
              <a:gd name="connsiteY1" fmla="*/ 6248341 h 6248341"/>
              <a:gd name="connsiteX2" fmla="*/ 0 w 12642772"/>
              <a:gd name="connsiteY2" fmla="*/ 2394542 h 6248341"/>
              <a:gd name="connsiteX3" fmla="*/ 52893 w 12642772"/>
              <a:gd name="connsiteY3" fmla="*/ 2306669 h 6248341"/>
              <a:gd name="connsiteX4" fmla="*/ 131535 w 12642772"/>
              <a:gd name="connsiteY4" fmla="*/ 2293621 h 6248341"/>
              <a:gd name="connsiteX5" fmla="*/ 244153 w 12642772"/>
              <a:gd name="connsiteY5" fmla="*/ 2272261 h 6248341"/>
              <a:gd name="connsiteX6" fmla="*/ 324401 w 12642772"/>
              <a:gd name="connsiteY6" fmla="*/ 2233208 h 6248341"/>
              <a:gd name="connsiteX7" fmla="*/ 463569 w 12642772"/>
              <a:gd name="connsiteY7" fmla="*/ 2158308 h 6248341"/>
              <a:gd name="connsiteX8" fmla="*/ 582537 w 12642772"/>
              <a:gd name="connsiteY8" fmla="*/ 2095961 h 6248341"/>
              <a:gd name="connsiteX9" fmla="*/ 638937 w 12642772"/>
              <a:gd name="connsiteY9" fmla="*/ 2008169 h 6248341"/>
              <a:gd name="connsiteX10" fmla="*/ 749855 w 12642772"/>
              <a:gd name="connsiteY10" fmla="*/ 1936088 h 6248341"/>
              <a:gd name="connsiteX11" fmla="*/ 856553 w 12642772"/>
              <a:gd name="connsiteY11" fmla="*/ 1892728 h 6248341"/>
              <a:gd name="connsiteX12" fmla="*/ 939338 w 12642772"/>
              <a:gd name="connsiteY12" fmla="*/ 1863906 h 6248341"/>
              <a:gd name="connsiteX13" fmla="*/ 987836 w 12642772"/>
              <a:gd name="connsiteY13" fmla="*/ 1848470 h 6248341"/>
              <a:gd name="connsiteX14" fmla="*/ 1086094 w 12642772"/>
              <a:gd name="connsiteY14" fmla="*/ 1834336 h 6248341"/>
              <a:gd name="connsiteX15" fmla="*/ 1155607 w 12642772"/>
              <a:gd name="connsiteY15" fmla="*/ 1814299 h 6248341"/>
              <a:gd name="connsiteX16" fmla="*/ 1219621 w 12642772"/>
              <a:gd name="connsiteY16" fmla="*/ 1774472 h 6248341"/>
              <a:gd name="connsiteX17" fmla="*/ 1275113 w 12642772"/>
              <a:gd name="connsiteY17" fmla="*/ 1734756 h 6248341"/>
              <a:gd name="connsiteX18" fmla="*/ 1337800 w 12642772"/>
              <a:gd name="connsiteY18" fmla="*/ 1684579 h 6248341"/>
              <a:gd name="connsiteX19" fmla="*/ 1526287 w 12642772"/>
              <a:gd name="connsiteY19" fmla="*/ 1602057 h 6248341"/>
              <a:gd name="connsiteX20" fmla="*/ 1579126 w 12642772"/>
              <a:gd name="connsiteY20" fmla="*/ 1559561 h 6248341"/>
              <a:gd name="connsiteX21" fmla="*/ 1651242 w 12642772"/>
              <a:gd name="connsiteY21" fmla="*/ 1546569 h 6248341"/>
              <a:gd name="connsiteX22" fmla="*/ 1712038 w 12642772"/>
              <a:gd name="connsiteY22" fmla="*/ 1533432 h 6248341"/>
              <a:gd name="connsiteX23" fmla="*/ 1758402 w 12642772"/>
              <a:gd name="connsiteY23" fmla="*/ 1525816 h 6248341"/>
              <a:gd name="connsiteX24" fmla="*/ 1831776 w 12642772"/>
              <a:gd name="connsiteY24" fmla="*/ 1504679 h 6248341"/>
              <a:gd name="connsiteX25" fmla="*/ 1963032 w 12642772"/>
              <a:gd name="connsiteY25" fmla="*/ 1472999 h 6248341"/>
              <a:gd name="connsiteX26" fmla="*/ 2006520 w 12642772"/>
              <a:gd name="connsiteY26" fmla="*/ 1464281 h 6248341"/>
              <a:gd name="connsiteX27" fmla="*/ 2049195 w 12642772"/>
              <a:gd name="connsiteY27" fmla="*/ 1459572 h 6248341"/>
              <a:gd name="connsiteX28" fmla="*/ 2125117 w 12642772"/>
              <a:gd name="connsiteY28" fmla="*/ 1432093 h 6248341"/>
              <a:gd name="connsiteX29" fmla="*/ 2234987 w 12642772"/>
              <a:gd name="connsiteY29" fmla="*/ 1408543 h 6248341"/>
              <a:gd name="connsiteX30" fmla="*/ 2349979 w 12642772"/>
              <a:gd name="connsiteY30" fmla="*/ 1370325 h 6248341"/>
              <a:gd name="connsiteX31" fmla="*/ 2490342 w 12642772"/>
              <a:gd name="connsiteY31" fmla="*/ 1337371 h 6248341"/>
              <a:gd name="connsiteX32" fmla="*/ 2721983 w 12642772"/>
              <a:gd name="connsiteY32" fmla="*/ 1255221 h 6248341"/>
              <a:gd name="connsiteX33" fmla="*/ 2740778 w 12642772"/>
              <a:gd name="connsiteY33" fmla="*/ 1232389 h 6248341"/>
              <a:gd name="connsiteX34" fmla="*/ 2772006 w 12642772"/>
              <a:gd name="connsiteY34" fmla="*/ 1218123 h 6248341"/>
              <a:gd name="connsiteX35" fmla="*/ 2850754 w 12642772"/>
              <a:gd name="connsiteY35" fmla="*/ 1180094 h 6248341"/>
              <a:gd name="connsiteX36" fmla="*/ 2872381 w 12642772"/>
              <a:gd name="connsiteY36" fmla="*/ 1159349 h 6248341"/>
              <a:gd name="connsiteX37" fmla="*/ 2877664 w 12642772"/>
              <a:gd name="connsiteY37" fmla="*/ 1153429 h 6248341"/>
              <a:gd name="connsiteX38" fmla="*/ 2898982 w 12642772"/>
              <a:gd name="connsiteY38" fmla="*/ 1143332 h 6248341"/>
              <a:gd name="connsiteX39" fmla="*/ 2900154 w 12642772"/>
              <a:gd name="connsiteY39" fmla="*/ 1144257 h 6248341"/>
              <a:gd name="connsiteX40" fmla="*/ 2913224 w 12642772"/>
              <a:gd name="connsiteY40" fmla="*/ 1144530 h 6248341"/>
              <a:gd name="connsiteX41" fmla="*/ 2936660 w 12642772"/>
              <a:gd name="connsiteY41" fmla="*/ 1142412 h 6248341"/>
              <a:gd name="connsiteX42" fmla="*/ 2997572 w 12642772"/>
              <a:gd name="connsiteY42" fmla="*/ 1141831 h 6248341"/>
              <a:gd name="connsiteX43" fmla="*/ 3044472 w 12642772"/>
              <a:gd name="connsiteY43" fmla="*/ 1131369 h 6248341"/>
              <a:gd name="connsiteX44" fmla="*/ 3044790 w 12642772"/>
              <a:gd name="connsiteY44" fmla="*/ 1131569 h 6248341"/>
              <a:gd name="connsiteX45" fmla="*/ 3053469 w 12642772"/>
              <a:gd name="connsiteY45" fmla="*/ 1129009 h 6248341"/>
              <a:gd name="connsiteX46" fmla="*/ 3058924 w 12642772"/>
              <a:gd name="connsiteY46" fmla="*/ 1126056 h 6248341"/>
              <a:gd name="connsiteX47" fmla="*/ 3074299 w 12642772"/>
              <a:gd name="connsiteY47" fmla="*/ 1120405 h 6248341"/>
              <a:gd name="connsiteX48" fmla="*/ 3080657 w 12642772"/>
              <a:gd name="connsiteY48" fmla="*/ 1120171 h 6248341"/>
              <a:gd name="connsiteX49" fmla="*/ 3085901 w 12642772"/>
              <a:gd name="connsiteY49" fmla="*/ 1121681 h 6248341"/>
              <a:gd name="connsiteX50" fmla="*/ 3109448 w 12642772"/>
              <a:gd name="connsiteY50" fmla="*/ 1097576 h 6248341"/>
              <a:gd name="connsiteX51" fmla="*/ 3120280 w 12642772"/>
              <a:gd name="connsiteY51" fmla="*/ 1092673 h 6248341"/>
              <a:gd name="connsiteX52" fmla="*/ 3151969 w 12642772"/>
              <a:gd name="connsiteY52" fmla="*/ 1093148 h 6248341"/>
              <a:gd name="connsiteX53" fmla="*/ 3156202 w 12642772"/>
              <a:gd name="connsiteY53" fmla="*/ 1091941 h 6248341"/>
              <a:gd name="connsiteX54" fmla="*/ 3218578 w 12642772"/>
              <a:gd name="connsiteY54" fmla="*/ 1084695 h 6248341"/>
              <a:gd name="connsiteX55" fmla="*/ 3291572 w 12642772"/>
              <a:gd name="connsiteY55" fmla="*/ 1074108 h 6248341"/>
              <a:gd name="connsiteX56" fmla="*/ 3335322 w 12642772"/>
              <a:gd name="connsiteY56" fmla="*/ 1065344 h 6248341"/>
              <a:gd name="connsiteX57" fmla="*/ 3444471 w 12642772"/>
              <a:gd name="connsiteY57" fmla="*/ 1040037 h 6248341"/>
              <a:gd name="connsiteX58" fmla="*/ 3516736 w 12642772"/>
              <a:gd name="connsiteY58" fmla="*/ 1044495 h 6248341"/>
              <a:gd name="connsiteX59" fmla="*/ 3529913 w 12642772"/>
              <a:gd name="connsiteY59" fmla="*/ 1036395 h 6248341"/>
              <a:gd name="connsiteX60" fmla="*/ 3534215 w 12642772"/>
              <a:gd name="connsiteY60" fmla="*/ 1032644 h 6248341"/>
              <a:gd name="connsiteX61" fmla="*/ 3541901 w 12642772"/>
              <a:gd name="connsiteY61" fmla="*/ 1028655 h 6248341"/>
              <a:gd name="connsiteX62" fmla="*/ 3542297 w 12642772"/>
              <a:gd name="connsiteY62" fmla="*/ 1028781 h 6248341"/>
              <a:gd name="connsiteX63" fmla="*/ 3549091 w 12642772"/>
              <a:gd name="connsiteY63" fmla="*/ 1024603 h 6248341"/>
              <a:gd name="connsiteX64" fmla="*/ 3668564 w 12642772"/>
              <a:gd name="connsiteY64" fmla="*/ 992085 h 6248341"/>
              <a:gd name="connsiteX65" fmla="*/ 3681760 w 12642772"/>
              <a:gd name="connsiteY65" fmla="*/ 989897 h 6248341"/>
              <a:gd name="connsiteX66" fmla="*/ 3683298 w 12642772"/>
              <a:gd name="connsiteY66" fmla="*/ 990533 h 6248341"/>
              <a:gd name="connsiteX67" fmla="*/ 3701238 w 12642772"/>
              <a:gd name="connsiteY67" fmla="*/ 978370 h 6248341"/>
              <a:gd name="connsiteX68" fmla="*/ 3727029 w 12642772"/>
              <a:gd name="connsiteY68" fmla="*/ 982634 h 6248341"/>
              <a:gd name="connsiteX69" fmla="*/ 3827462 w 12642772"/>
              <a:gd name="connsiteY69" fmla="*/ 983777 h 6248341"/>
              <a:gd name="connsiteX70" fmla="*/ 3939255 w 12642772"/>
              <a:gd name="connsiteY70" fmla="*/ 962526 h 6248341"/>
              <a:gd name="connsiteX71" fmla="*/ 3976764 w 12642772"/>
              <a:gd name="connsiteY71" fmla="*/ 943975 h 6248341"/>
              <a:gd name="connsiteX72" fmla="*/ 4039745 w 12642772"/>
              <a:gd name="connsiteY72" fmla="*/ 913576 h 6248341"/>
              <a:gd name="connsiteX73" fmla="*/ 4081478 w 12642772"/>
              <a:gd name="connsiteY73" fmla="*/ 863744 h 6248341"/>
              <a:gd name="connsiteX74" fmla="*/ 4136255 w 12642772"/>
              <a:gd name="connsiteY74" fmla="*/ 849070 h 6248341"/>
              <a:gd name="connsiteX75" fmla="*/ 4155885 w 12642772"/>
              <a:gd name="connsiteY75" fmla="*/ 880724 h 6248341"/>
              <a:gd name="connsiteX76" fmla="*/ 4212239 w 12642772"/>
              <a:gd name="connsiteY76" fmla="*/ 853648 h 6248341"/>
              <a:gd name="connsiteX77" fmla="*/ 4296968 w 12642772"/>
              <a:gd name="connsiteY77" fmla="*/ 808725 h 6248341"/>
              <a:gd name="connsiteX78" fmla="*/ 4347619 w 12642772"/>
              <a:gd name="connsiteY78" fmla="*/ 791871 h 6248341"/>
              <a:gd name="connsiteX79" fmla="*/ 4484035 w 12642772"/>
              <a:gd name="connsiteY79" fmla="*/ 736001 h 6248341"/>
              <a:gd name="connsiteX80" fmla="*/ 4619194 w 12642772"/>
              <a:gd name="connsiteY80" fmla="*/ 672546 h 6248341"/>
              <a:gd name="connsiteX81" fmla="*/ 4648276 w 12642772"/>
              <a:gd name="connsiteY81" fmla="*/ 677255 h 6248341"/>
              <a:gd name="connsiteX82" fmla="*/ 4658535 w 12642772"/>
              <a:gd name="connsiteY82" fmla="*/ 658404 h 6248341"/>
              <a:gd name="connsiteX83" fmla="*/ 4684435 w 12642772"/>
              <a:gd name="connsiteY83" fmla="*/ 658040 h 6248341"/>
              <a:gd name="connsiteX84" fmla="*/ 4685966 w 12642772"/>
              <a:gd name="connsiteY84" fmla="*/ 659300 h 6248341"/>
              <a:gd name="connsiteX85" fmla="*/ 4773323 w 12642772"/>
              <a:gd name="connsiteY85" fmla="*/ 620033 h 6248341"/>
              <a:gd name="connsiteX86" fmla="*/ 4789881 w 12642772"/>
              <a:gd name="connsiteY86" fmla="*/ 612833 h 6248341"/>
              <a:gd name="connsiteX87" fmla="*/ 4793116 w 12642772"/>
              <a:gd name="connsiteY87" fmla="*/ 606807 h 6248341"/>
              <a:gd name="connsiteX88" fmla="*/ 4818294 w 12642772"/>
              <a:gd name="connsiteY88" fmla="*/ 598208 h 6248341"/>
              <a:gd name="connsiteX89" fmla="*/ 4889379 w 12642772"/>
              <a:gd name="connsiteY89" fmla="*/ 574856 h 6248341"/>
              <a:gd name="connsiteX90" fmla="*/ 4967000 w 12642772"/>
              <a:gd name="connsiteY90" fmla="*/ 563548 h 6248341"/>
              <a:gd name="connsiteX91" fmla="*/ 5011397 w 12642772"/>
              <a:gd name="connsiteY91" fmla="*/ 546508 h 6248341"/>
              <a:gd name="connsiteX92" fmla="*/ 5017511 w 12642772"/>
              <a:gd name="connsiteY92" fmla="*/ 542737 h 6248341"/>
              <a:gd name="connsiteX93" fmla="*/ 5022951 w 12642772"/>
              <a:gd name="connsiteY93" fmla="*/ 543578 h 6248341"/>
              <a:gd name="connsiteX94" fmla="*/ 5028686 w 12642772"/>
              <a:gd name="connsiteY94" fmla="*/ 550797 h 6248341"/>
              <a:gd name="connsiteX95" fmla="*/ 5055222 w 12642772"/>
              <a:gd name="connsiteY95" fmla="*/ 551685 h 6248341"/>
              <a:gd name="connsiteX96" fmla="*/ 5058043 w 12642772"/>
              <a:gd name="connsiteY96" fmla="*/ 549365 h 6248341"/>
              <a:gd name="connsiteX97" fmla="*/ 5080769 w 12642772"/>
              <a:gd name="connsiteY97" fmla="*/ 559110 h 6248341"/>
              <a:gd name="connsiteX98" fmla="*/ 5100831 w 12642772"/>
              <a:gd name="connsiteY98" fmla="*/ 578170 h 6248341"/>
              <a:gd name="connsiteX99" fmla="*/ 5323302 w 12642772"/>
              <a:gd name="connsiteY99" fmla="*/ 551607 h 6248341"/>
              <a:gd name="connsiteX100" fmla="*/ 5524173 w 12642772"/>
              <a:gd name="connsiteY100" fmla="*/ 623428 h 6248341"/>
              <a:gd name="connsiteX101" fmla="*/ 5644692 w 12642772"/>
              <a:gd name="connsiteY101" fmla="*/ 606574 h 6248341"/>
              <a:gd name="connsiteX102" fmla="*/ 5984259 w 12642772"/>
              <a:gd name="connsiteY102" fmla="*/ 559264 h 6248341"/>
              <a:gd name="connsiteX103" fmla="*/ 6059790 w 12642772"/>
              <a:gd name="connsiteY103" fmla="*/ 538457 h 6248341"/>
              <a:gd name="connsiteX104" fmla="*/ 6130495 w 12642772"/>
              <a:gd name="connsiteY104" fmla="*/ 565308 h 6248341"/>
              <a:gd name="connsiteX105" fmla="*/ 6157089 w 12642772"/>
              <a:gd name="connsiteY105" fmla="*/ 547229 h 6248341"/>
              <a:gd name="connsiteX106" fmla="*/ 6161628 w 12642772"/>
              <a:gd name="connsiteY106" fmla="*/ 543616 h 6248341"/>
              <a:gd name="connsiteX107" fmla="*/ 6180804 w 12642772"/>
              <a:gd name="connsiteY107" fmla="*/ 539939 h 6248341"/>
              <a:gd name="connsiteX108" fmla="*/ 6184951 w 12642772"/>
              <a:gd name="connsiteY108" fmla="*/ 525424 h 6248341"/>
              <a:gd name="connsiteX109" fmla="*/ 6212909 w 12642772"/>
              <a:gd name="connsiteY109" fmla="*/ 510232 h 6248341"/>
              <a:gd name="connsiteX110" fmla="*/ 6248556 w 12642772"/>
              <a:gd name="connsiteY110" fmla="*/ 507226 h 6248341"/>
              <a:gd name="connsiteX111" fmla="*/ 6419167 w 12642772"/>
              <a:gd name="connsiteY111" fmla="*/ 508015 h 6248341"/>
              <a:gd name="connsiteX112" fmla="*/ 6520553 w 12642772"/>
              <a:gd name="connsiteY112" fmla="*/ 499890 h 6248341"/>
              <a:gd name="connsiteX113" fmla="*/ 6557985 w 12642772"/>
              <a:gd name="connsiteY113" fmla="*/ 483298 h 6248341"/>
              <a:gd name="connsiteX114" fmla="*/ 6610986 w 12642772"/>
              <a:gd name="connsiteY114" fmla="*/ 469207 h 6248341"/>
              <a:gd name="connsiteX115" fmla="*/ 6703685 w 12642772"/>
              <a:gd name="connsiteY115" fmla="*/ 433885 h 6248341"/>
              <a:gd name="connsiteX116" fmla="*/ 6829686 w 12642772"/>
              <a:gd name="connsiteY116" fmla="*/ 404609 h 6248341"/>
              <a:gd name="connsiteX117" fmla="*/ 6926071 w 12642772"/>
              <a:gd name="connsiteY117" fmla="*/ 440952 h 6248341"/>
              <a:gd name="connsiteX118" fmla="*/ 6933459 w 12642772"/>
              <a:gd name="connsiteY118" fmla="*/ 430117 h 6248341"/>
              <a:gd name="connsiteX119" fmla="*/ 6997730 w 12642772"/>
              <a:gd name="connsiteY119" fmla="*/ 427075 h 6248341"/>
              <a:gd name="connsiteX120" fmla="*/ 7228068 w 12642772"/>
              <a:gd name="connsiteY120" fmla="*/ 485987 h 6248341"/>
              <a:gd name="connsiteX121" fmla="*/ 7353524 w 12642772"/>
              <a:gd name="connsiteY121" fmla="*/ 478122 h 6248341"/>
              <a:gd name="connsiteX122" fmla="*/ 7397216 w 12642772"/>
              <a:gd name="connsiteY122" fmla="*/ 464113 h 6248341"/>
              <a:gd name="connsiteX123" fmla="*/ 7470470 w 12642772"/>
              <a:gd name="connsiteY123" fmla="*/ 441338 h 6248341"/>
              <a:gd name="connsiteX124" fmla="*/ 7523162 w 12642772"/>
              <a:gd name="connsiteY124" fmla="*/ 396692 h 6248341"/>
              <a:gd name="connsiteX125" fmla="*/ 7585229 w 12642772"/>
              <a:gd name="connsiteY125" fmla="*/ 388596 h 6248341"/>
              <a:gd name="connsiteX126" fmla="*/ 7602312 w 12642772"/>
              <a:gd name="connsiteY126" fmla="*/ 422441 h 6248341"/>
              <a:gd name="connsiteX127" fmla="*/ 7667842 w 12642772"/>
              <a:gd name="connsiteY127" fmla="*/ 402184 h 6248341"/>
              <a:gd name="connsiteX128" fmla="*/ 7766955 w 12642772"/>
              <a:gd name="connsiteY128" fmla="*/ 367538 h 6248341"/>
              <a:gd name="connsiteX129" fmla="*/ 7824808 w 12642772"/>
              <a:gd name="connsiteY129" fmla="*/ 356782 h 6248341"/>
              <a:gd name="connsiteX130" fmla="*/ 7982082 w 12642772"/>
              <a:gd name="connsiteY130" fmla="*/ 317381 h 6248341"/>
              <a:gd name="connsiteX131" fmla="*/ 8139042 w 12642772"/>
              <a:gd name="connsiteY131" fmla="*/ 270278 h 6248341"/>
              <a:gd name="connsiteX132" fmla="*/ 8188479 w 12642772"/>
              <a:gd name="connsiteY132" fmla="*/ 250893 h 6248341"/>
              <a:gd name="connsiteX133" fmla="*/ 8197460 w 12642772"/>
              <a:gd name="connsiteY133" fmla="*/ 227412 h 6248341"/>
              <a:gd name="connsiteX134" fmla="*/ 8236543 w 12642772"/>
              <a:gd name="connsiteY134" fmla="*/ 231896 h 6248341"/>
              <a:gd name="connsiteX135" fmla="*/ 8288656 w 12642772"/>
              <a:gd name="connsiteY135" fmla="*/ 233518 h 6248341"/>
              <a:gd name="connsiteX136" fmla="*/ 8365194 w 12642772"/>
              <a:gd name="connsiteY136" fmla="*/ 255354 h 6248341"/>
              <a:gd name="connsiteX137" fmla="*/ 8371093 w 12642772"/>
              <a:gd name="connsiteY137" fmla="*/ 253056 h 6248341"/>
              <a:gd name="connsiteX138" fmla="*/ 8380079 w 12642772"/>
              <a:gd name="connsiteY138" fmla="*/ 251533 h 6248341"/>
              <a:gd name="connsiteX139" fmla="*/ 8380352 w 12642772"/>
              <a:gd name="connsiteY139" fmla="*/ 251771 h 6248341"/>
              <a:gd name="connsiteX140" fmla="*/ 8388670 w 12642772"/>
              <a:gd name="connsiteY140" fmla="*/ 249803 h 6248341"/>
              <a:gd name="connsiteX141" fmla="*/ 8439400 w 12642772"/>
              <a:gd name="connsiteY141" fmla="*/ 252189 h 6248341"/>
              <a:gd name="connsiteX142" fmla="*/ 8502127 w 12642772"/>
              <a:gd name="connsiteY142" fmla="*/ 246524 h 6248341"/>
              <a:gd name="connsiteX143" fmla="*/ 8575600 w 12642772"/>
              <a:gd name="connsiteY143" fmla="*/ 247912 h 6248341"/>
              <a:gd name="connsiteX144" fmla="*/ 8609423 w 12642772"/>
              <a:gd name="connsiteY144" fmla="*/ 225288 h 6248341"/>
              <a:gd name="connsiteX145" fmla="*/ 8628794 w 12642772"/>
              <a:gd name="connsiteY145" fmla="*/ 220632 h 6248341"/>
              <a:gd name="connsiteX146" fmla="*/ 8631243 w 12642772"/>
              <a:gd name="connsiteY146" fmla="*/ 221270 h 6248341"/>
              <a:gd name="connsiteX147" fmla="*/ 8708752 w 12642772"/>
              <a:gd name="connsiteY147" fmla="*/ 203517 h 6248341"/>
              <a:gd name="connsiteX148" fmla="*/ 8825952 w 12642772"/>
              <a:gd name="connsiteY148" fmla="*/ 177822 h 6248341"/>
              <a:gd name="connsiteX149" fmla="*/ 8862166 w 12642772"/>
              <a:gd name="connsiteY149" fmla="*/ 170735 h 6248341"/>
              <a:gd name="connsiteX150" fmla="*/ 8884490 w 12642772"/>
              <a:gd name="connsiteY150" fmla="*/ 165616 h 6248341"/>
              <a:gd name="connsiteX151" fmla="*/ 8918298 w 12642772"/>
              <a:gd name="connsiteY151" fmla="*/ 194546 h 6248341"/>
              <a:gd name="connsiteX152" fmla="*/ 8948572 w 12642772"/>
              <a:gd name="connsiteY152" fmla="*/ 207940 h 6248341"/>
              <a:gd name="connsiteX153" fmla="*/ 9104724 w 12642772"/>
              <a:gd name="connsiteY153" fmla="*/ 178319 h 6248341"/>
              <a:gd name="connsiteX154" fmla="*/ 9198328 w 12642772"/>
              <a:gd name="connsiteY154" fmla="*/ 159122 h 6248341"/>
              <a:gd name="connsiteX155" fmla="*/ 9339412 w 12642772"/>
              <a:gd name="connsiteY155" fmla="*/ 203422 h 6248341"/>
              <a:gd name="connsiteX156" fmla="*/ 9409165 w 12642772"/>
              <a:gd name="connsiteY156" fmla="*/ 216989 h 6248341"/>
              <a:gd name="connsiteX157" fmla="*/ 9516379 w 12642772"/>
              <a:gd name="connsiteY157" fmla="*/ 220757 h 6248341"/>
              <a:gd name="connsiteX158" fmla="*/ 9615958 w 12642772"/>
              <a:gd name="connsiteY158" fmla="*/ 196389 h 6248341"/>
              <a:gd name="connsiteX159" fmla="*/ 9860346 w 12642772"/>
              <a:gd name="connsiteY159" fmla="*/ 177067 h 6248341"/>
              <a:gd name="connsiteX160" fmla="*/ 10071193 w 12642772"/>
              <a:gd name="connsiteY160" fmla="*/ 142345 h 6248341"/>
              <a:gd name="connsiteX161" fmla="*/ 10270876 w 12642772"/>
              <a:gd name="connsiteY161" fmla="*/ 164464 h 6248341"/>
              <a:gd name="connsiteX162" fmla="*/ 10338607 w 12642772"/>
              <a:gd name="connsiteY162" fmla="*/ 202846 h 6248341"/>
              <a:gd name="connsiteX163" fmla="*/ 10370927 w 12642772"/>
              <a:gd name="connsiteY163" fmla="*/ 198630 h 6248341"/>
              <a:gd name="connsiteX164" fmla="*/ 10423650 w 12642772"/>
              <a:gd name="connsiteY164" fmla="*/ 187033 h 6248341"/>
              <a:gd name="connsiteX165" fmla="*/ 10507238 w 12642772"/>
              <a:gd name="connsiteY165" fmla="*/ 199359 h 6248341"/>
              <a:gd name="connsiteX166" fmla="*/ 10712234 w 12642772"/>
              <a:gd name="connsiteY166" fmla="*/ 202150 h 6248341"/>
              <a:gd name="connsiteX167" fmla="*/ 10955598 w 12642772"/>
              <a:gd name="connsiteY167" fmla="*/ 236823 h 6248341"/>
              <a:gd name="connsiteX168" fmla="*/ 11210395 w 12642772"/>
              <a:gd name="connsiteY168" fmla="*/ 197924 h 6248341"/>
              <a:gd name="connsiteX169" fmla="*/ 11355556 w 12642772"/>
              <a:gd name="connsiteY169" fmla="*/ 131371 h 6248341"/>
              <a:gd name="connsiteX170" fmla="*/ 11531644 w 12642772"/>
              <a:gd name="connsiteY170" fmla="*/ 99364 h 6248341"/>
              <a:gd name="connsiteX171" fmla="*/ 11719114 w 12642772"/>
              <a:gd name="connsiteY171" fmla="*/ 62439 h 6248341"/>
              <a:gd name="connsiteX172" fmla="*/ 11814686 w 12642772"/>
              <a:gd name="connsiteY172" fmla="*/ 38458 h 6248341"/>
              <a:gd name="connsiteX173" fmla="*/ 11865687 w 12642772"/>
              <a:gd name="connsiteY173" fmla="*/ 10088 h 6248341"/>
              <a:gd name="connsiteX174" fmla="*/ 11957454 w 12642772"/>
              <a:gd name="connsiteY174" fmla="*/ 4020 h 6248341"/>
              <a:gd name="connsiteX175" fmla="*/ 11975060 w 12642772"/>
              <a:gd name="connsiteY175" fmla="*/ 0 h 6248341"/>
              <a:gd name="connsiteX176" fmla="*/ 12006839 w 12642772"/>
              <a:gd name="connsiteY176" fmla="*/ 210943 h 6248341"/>
              <a:gd name="connsiteX177" fmla="*/ 12642772 w 12642772"/>
              <a:gd name="connsiteY177" fmla="*/ 4432052 h 6248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2642772" h="6248341">
                <a:moveTo>
                  <a:pt x="12642772" y="4432052"/>
                </a:moveTo>
                <a:lnTo>
                  <a:pt x="586822" y="6248341"/>
                </a:lnTo>
                <a:cubicBezTo>
                  <a:pt x="413471" y="5111477"/>
                  <a:pt x="173350" y="3531407"/>
                  <a:pt x="0" y="2394542"/>
                </a:cubicBezTo>
                <a:lnTo>
                  <a:pt x="52893" y="2306669"/>
                </a:lnTo>
                <a:cubicBezTo>
                  <a:pt x="67266" y="2306793"/>
                  <a:pt x="118504" y="2297204"/>
                  <a:pt x="131535" y="2293621"/>
                </a:cubicBezTo>
                <a:cubicBezTo>
                  <a:pt x="235982" y="2302858"/>
                  <a:pt x="197087" y="2291745"/>
                  <a:pt x="244153" y="2272261"/>
                </a:cubicBezTo>
                <a:cubicBezTo>
                  <a:pt x="288465" y="2263813"/>
                  <a:pt x="287831" y="2252199"/>
                  <a:pt x="324401" y="2233208"/>
                </a:cubicBezTo>
                <a:lnTo>
                  <a:pt x="463569" y="2158308"/>
                </a:lnTo>
                <a:cubicBezTo>
                  <a:pt x="506591" y="2135434"/>
                  <a:pt x="546976" y="2145326"/>
                  <a:pt x="582537" y="2095961"/>
                </a:cubicBezTo>
                <a:lnTo>
                  <a:pt x="638937" y="2008169"/>
                </a:lnTo>
                <a:cubicBezTo>
                  <a:pt x="686285" y="1999141"/>
                  <a:pt x="708248" y="1959382"/>
                  <a:pt x="749855" y="1936088"/>
                </a:cubicBezTo>
                <a:cubicBezTo>
                  <a:pt x="791527" y="1909991"/>
                  <a:pt x="819909" y="1906478"/>
                  <a:pt x="856553" y="1892728"/>
                </a:cubicBezTo>
                <a:cubicBezTo>
                  <a:pt x="872688" y="1896553"/>
                  <a:pt x="926797" y="1876988"/>
                  <a:pt x="939338" y="1863906"/>
                </a:cubicBezTo>
                <a:cubicBezTo>
                  <a:pt x="981108" y="1859053"/>
                  <a:pt x="963180" y="1865189"/>
                  <a:pt x="987836" y="1848470"/>
                </a:cubicBezTo>
                <a:cubicBezTo>
                  <a:pt x="1023003" y="1873965"/>
                  <a:pt x="1058671" y="1841751"/>
                  <a:pt x="1086094" y="1834336"/>
                </a:cubicBezTo>
                <a:cubicBezTo>
                  <a:pt x="1102835" y="1828051"/>
                  <a:pt x="1139360" y="1818268"/>
                  <a:pt x="1155607" y="1814299"/>
                </a:cubicBezTo>
                <a:cubicBezTo>
                  <a:pt x="1183758" y="1810365"/>
                  <a:pt x="1218373" y="1759163"/>
                  <a:pt x="1219621" y="1774472"/>
                </a:cubicBezTo>
                <a:cubicBezTo>
                  <a:pt x="1242899" y="1773567"/>
                  <a:pt x="1244829" y="1741322"/>
                  <a:pt x="1275113" y="1734756"/>
                </a:cubicBezTo>
                <a:cubicBezTo>
                  <a:pt x="1334421" y="1687737"/>
                  <a:pt x="1295937" y="1706696"/>
                  <a:pt x="1337800" y="1684579"/>
                </a:cubicBezTo>
                <a:cubicBezTo>
                  <a:pt x="1379663" y="1662462"/>
                  <a:pt x="1466954" y="1627202"/>
                  <a:pt x="1526287" y="1602057"/>
                </a:cubicBezTo>
                <a:cubicBezTo>
                  <a:pt x="1553390" y="1592996"/>
                  <a:pt x="1540999" y="1570289"/>
                  <a:pt x="1579126" y="1559561"/>
                </a:cubicBezTo>
                <a:cubicBezTo>
                  <a:pt x="1602892" y="1557552"/>
                  <a:pt x="1622220" y="1540740"/>
                  <a:pt x="1651242" y="1546569"/>
                </a:cubicBezTo>
                <a:cubicBezTo>
                  <a:pt x="1661191" y="1549244"/>
                  <a:pt x="1688001" y="1544372"/>
                  <a:pt x="1712038" y="1533432"/>
                </a:cubicBezTo>
                <a:cubicBezTo>
                  <a:pt x="1722220" y="1540383"/>
                  <a:pt x="1747544" y="1527611"/>
                  <a:pt x="1758402" y="1525816"/>
                </a:cubicBezTo>
                <a:cubicBezTo>
                  <a:pt x="1772533" y="1530625"/>
                  <a:pt x="1819420" y="1514186"/>
                  <a:pt x="1831776" y="1504679"/>
                </a:cubicBezTo>
                <a:lnTo>
                  <a:pt x="1963032" y="1472999"/>
                </a:lnTo>
                <a:lnTo>
                  <a:pt x="2006520" y="1464281"/>
                </a:lnTo>
                <a:cubicBezTo>
                  <a:pt x="2014344" y="1465241"/>
                  <a:pt x="2041522" y="1459774"/>
                  <a:pt x="2049195" y="1459572"/>
                </a:cubicBezTo>
                <a:cubicBezTo>
                  <a:pt x="2087954" y="1443290"/>
                  <a:pt x="2101777" y="1440700"/>
                  <a:pt x="2125117" y="1432093"/>
                </a:cubicBezTo>
                <a:cubicBezTo>
                  <a:pt x="2165647" y="1425840"/>
                  <a:pt x="2196015" y="1424572"/>
                  <a:pt x="2234987" y="1408543"/>
                </a:cubicBezTo>
                <a:lnTo>
                  <a:pt x="2349979" y="1370325"/>
                </a:lnTo>
                <a:cubicBezTo>
                  <a:pt x="2404061" y="1372089"/>
                  <a:pt x="2474940" y="1352732"/>
                  <a:pt x="2490342" y="1337371"/>
                </a:cubicBezTo>
                <a:cubicBezTo>
                  <a:pt x="2552946" y="1313179"/>
                  <a:pt x="2651266" y="1271354"/>
                  <a:pt x="2721983" y="1255221"/>
                </a:cubicBezTo>
                <a:lnTo>
                  <a:pt x="2740778" y="1232389"/>
                </a:lnTo>
                <a:lnTo>
                  <a:pt x="2772006" y="1218123"/>
                </a:lnTo>
                <a:cubicBezTo>
                  <a:pt x="2798565" y="1204582"/>
                  <a:pt x="2824316" y="1189775"/>
                  <a:pt x="2850754" y="1180094"/>
                </a:cubicBezTo>
                <a:cubicBezTo>
                  <a:pt x="2858486" y="1174495"/>
                  <a:pt x="2865479" y="1167162"/>
                  <a:pt x="2872381" y="1159349"/>
                </a:cubicBezTo>
                <a:lnTo>
                  <a:pt x="2877664" y="1153429"/>
                </a:lnTo>
                <a:lnTo>
                  <a:pt x="2898982" y="1143332"/>
                </a:lnTo>
                <a:lnTo>
                  <a:pt x="2900154" y="1144257"/>
                </a:lnTo>
                <a:cubicBezTo>
                  <a:pt x="2903604" y="1145940"/>
                  <a:pt x="2907687" y="1146454"/>
                  <a:pt x="2913224" y="1144530"/>
                </a:cubicBezTo>
                <a:cubicBezTo>
                  <a:pt x="2914663" y="1164458"/>
                  <a:pt x="2920456" y="1149846"/>
                  <a:pt x="2936660" y="1142412"/>
                </a:cubicBezTo>
                <a:cubicBezTo>
                  <a:pt x="2942509" y="1171704"/>
                  <a:pt x="2981016" y="1130300"/>
                  <a:pt x="2997572" y="1141831"/>
                </a:cubicBezTo>
                <a:lnTo>
                  <a:pt x="3044472" y="1131369"/>
                </a:lnTo>
                <a:lnTo>
                  <a:pt x="3044790" y="1131569"/>
                </a:lnTo>
                <a:cubicBezTo>
                  <a:pt x="3046855" y="1131486"/>
                  <a:pt x="3049590" y="1130734"/>
                  <a:pt x="3053469" y="1129009"/>
                </a:cubicBezTo>
                <a:lnTo>
                  <a:pt x="3058924" y="1126056"/>
                </a:lnTo>
                <a:lnTo>
                  <a:pt x="3074299" y="1120405"/>
                </a:lnTo>
                <a:lnTo>
                  <a:pt x="3080657" y="1120171"/>
                </a:lnTo>
                <a:lnTo>
                  <a:pt x="3085901" y="1121681"/>
                </a:lnTo>
                <a:cubicBezTo>
                  <a:pt x="3089424" y="1117040"/>
                  <a:pt x="3098046" y="1105705"/>
                  <a:pt x="3109448" y="1097576"/>
                </a:cubicBezTo>
                <a:lnTo>
                  <a:pt x="3120280" y="1092673"/>
                </a:lnTo>
                <a:lnTo>
                  <a:pt x="3151969" y="1093148"/>
                </a:lnTo>
                <a:lnTo>
                  <a:pt x="3156202" y="1091941"/>
                </a:lnTo>
                <a:lnTo>
                  <a:pt x="3218578" y="1084695"/>
                </a:lnTo>
                <a:cubicBezTo>
                  <a:pt x="3245764" y="1081888"/>
                  <a:pt x="3273631" y="1078650"/>
                  <a:pt x="3291572" y="1074108"/>
                </a:cubicBezTo>
                <a:cubicBezTo>
                  <a:pt x="3322176" y="1058413"/>
                  <a:pt x="3296217" y="1076449"/>
                  <a:pt x="3335322" y="1065344"/>
                </a:cubicBezTo>
                <a:cubicBezTo>
                  <a:pt x="3368156" y="1040199"/>
                  <a:pt x="3402741" y="1051987"/>
                  <a:pt x="3444471" y="1040037"/>
                </a:cubicBezTo>
                <a:lnTo>
                  <a:pt x="3516736" y="1044495"/>
                </a:lnTo>
                <a:lnTo>
                  <a:pt x="3529913" y="1036395"/>
                </a:lnTo>
                <a:lnTo>
                  <a:pt x="3534215" y="1032644"/>
                </a:lnTo>
                <a:cubicBezTo>
                  <a:pt x="3537422" y="1030324"/>
                  <a:pt x="3539868" y="1029116"/>
                  <a:pt x="3541901" y="1028655"/>
                </a:cubicBezTo>
                <a:lnTo>
                  <a:pt x="3542297" y="1028781"/>
                </a:lnTo>
                <a:lnTo>
                  <a:pt x="3549091" y="1024603"/>
                </a:lnTo>
                <a:lnTo>
                  <a:pt x="3668564" y="992085"/>
                </a:lnTo>
                <a:cubicBezTo>
                  <a:pt x="3673354" y="989271"/>
                  <a:pt x="3677647" y="988983"/>
                  <a:pt x="3681760" y="989897"/>
                </a:cubicBezTo>
                <a:lnTo>
                  <a:pt x="3683298" y="990533"/>
                </a:lnTo>
                <a:lnTo>
                  <a:pt x="3701238" y="978370"/>
                </a:lnTo>
                <a:lnTo>
                  <a:pt x="3727029" y="982634"/>
                </a:lnTo>
                <a:cubicBezTo>
                  <a:pt x="3762166" y="985324"/>
                  <a:pt x="3795029" y="982802"/>
                  <a:pt x="3827462" y="983777"/>
                </a:cubicBezTo>
                <a:cubicBezTo>
                  <a:pt x="3899741" y="979875"/>
                  <a:pt x="3841175" y="923865"/>
                  <a:pt x="3939255" y="962526"/>
                </a:cubicBezTo>
                <a:cubicBezTo>
                  <a:pt x="3944820" y="939198"/>
                  <a:pt x="3955882" y="936428"/>
                  <a:pt x="3976764" y="943975"/>
                </a:cubicBezTo>
                <a:cubicBezTo>
                  <a:pt x="4011587" y="940445"/>
                  <a:pt x="3998825" y="885884"/>
                  <a:pt x="4039745" y="913576"/>
                </a:cubicBezTo>
                <a:cubicBezTo>
                  <a:pt x="4028069" y="885008"/>
                  <a:pt x="4103064" y="891976"/>
                  <a:pt x="4081478" y="863744"/>
                </a:cubicBezTo>
                <a:cubicBezTo>
                  <a:pt x="4098995" y="833348"/>
                  <a:pt x="4118253" y="875924"/>
                  <a:pt x="4136255" y="849070"/>
                </a:cubicBezTo>
                <a:cubicBezTo>
                  <a:pt x="4160412" y="839702"/>
                  <a:pt x="4127630" y="882883"/>
                  <a:pt x="4155885" y="880724"/>
                </a:cubicBezTo>
                <a:cubicBezTo>
                  <a:pt x="4189159" y="872776"/>
                  <a:pt x="4199073" y="926940"/>
                  <a:pt x="4212239" y="853648"/>
                </a:cubicBezTo>
                <a:cubicBezTo>
                  <a:pt x="4250628" y="864621"/>
                  <a:pt x="4251711" y="832443"/>
                  <a:pt x="4296968" y="808725"/>
                </a:cubicBezTo>
                <a:cubicBezTo>
                  <a:pt x="4320354" y="822560"/>
                  <a:pt x="4334944" y="811306"/>
                  <a:pt x="4347619" y="791871"/>
                </a:cubicBezTo>
                <a:cubicBezTo>
                  <a:pt x="4395320" y="788176"/>
                  <a:pt x="4433289" y="755394"/>
                  <a:pt x="4484035" y="736001"/>
                </a:cubicBezTo>
                <a:cubicBezTo>
                  <a:pt x="4544675" y="745654"/>
                  <a:pt x="4564925" y="693074"/>
                  <a:pt x="4619194" y="672546"/>
                </a:cubicBezTo>
                <a:cubicBezTo>
                  <a:pt x="4633191" y="680042"/>
                  <a:pt x="4642217" y="680768"/>
                  <a:pt x="4648276" y="677255"/>
                </a:cubicBezTo>
                <a:lnTo>
                  <a:pt x="4658535" y="658404"/>
                </a:lnTo>
                <a:lnTo>
                  <a:pt x="4684435" y="658040"/>
                </a:lnTo>
                <a:lnTo>
                  <a:pt x="4685966" y="659300"/>
                </a:lnTo>
                <a:lnTo>
                  <a:pt x="4773323" y="620033"/>
                </a:lnTo>
                <a:lnTo>
                  <a:pt x="4789881" y="612833"/>
                </a:lnTo>
                <a:lnTo>
                  <a:pt x="4793116" y="606807"/>
                </a:lnTo>
                <a:cubicBezTo>
                  <a:pt x="4797413" y="602517"/>
                  <a:pt x="4804603" y="599222"/>
                  <a:pt x="4818294" y="598208"/>
                </a:cubicBezTo>
                <a:lnTo>
                  <a:pt x="4889379" y="574856"/>
                </a:lnTo>
                <a:cubicBezTo>
                  <a:pt x="4924646" y="568531"/>
                  <a:pt x="4935327" y="565911"/>
                  <a:pt x="4967000" y="563548"/>
                </a:cubicBezTo>
                <a:cubicBezTo>
                  <a:pt x="4986586" y="557770"/>
                  <a:pt x="5000668" y="551967"/>
                  <a:pt x="5011397" y="546508"/>
                </a:cubicBezTo>
                <a:lnTo>
                  <a:pt x="5017511" y="542737"/>
                </a:lnTo>
                <a:lnTo>
                  <a:pt x="5022951" y="543578"/>
                </a:lnTo>
                <a:lnTo>
                  <a:pt x="5028686" y="550797"/>
                </a:lnTo>
                <a:cubicBezTo>
                  <a:pt x="5034551" y="555023"/>
                  <a:pt x="5042525" y="556487"/>
                  <a:pt x="5055222" y="551685"/>
                </a:cubicBezTo>
                <a:lnTo>
                  <a:pt x="5058043" y="549365"/>
                </a:lnTo>
                <a:lnTo>
                  <a:pt x="5080769" y="559110"/>
                </a:lnTo>
                <a:cubicBezTo>
                  <a:pt x="5088231" y="563815"/>
                  <a:pt x="5095030" y="569979"/>
                  <a:pt x="5100831" y="578170"/>
                </a:cubicBezTo>
                <a:cubicBezTo>
                  <a:pt x="5170380" y="527737"/>
                  <a:pt x="5243922" y="564793"/>
                  <a:pt x="5323302" y="551607"/>
                </a:cubicBezTo>
                <a:cubicBezTo>
                  <a:pt x="5351315" y="478451"/>
                  <a:pt x="5497865" y="556036"/>
                  <a:pt x="5524173" y="623428"/>
                </a:cubicBezTo>
                <a:cubicBezTo>
                  <a:pt x="5517268" y="543117"/>
                  <a:pt x="5711665" y="703794"/>
                  <a:pt x="5644692" y="606574"/>
                </a:cubicBezTo>
                <a:lnTo>
                  <a:pt x="5984259" y="559264"/>
                </a:lnTo>
                <a:cubicBezTo>
                  <a:pt x="6030154" y="495862"/>
                  <a:pt x="6007425" y="553220"/>
                  <a:pt x="6059790" y="538457"/>
                </a:cubicBezTo>
                <a:cubicBezTo>
                  <a:pt x="6050344" y="594649"/>
                  <a:pt x="6121744" y="503179"/>
                  <a:pt x="6130495" y="565308"/>
                </a:cubicBezTo>
                <a:cubicBezTo>
                  <a:pt x="6139748" y="560655"/>
                  <a:pt x="6148435" y="554186"/>
                  <a:pt x="6157089" y="547229"/>
                </a:cubicBezTo>
                <a:lnTo>
                  <a:pt x="6161628" y="543616"/>
                </a:lnTo>
                <a:lnTo>
                  <a:pt x="6180804" y="539939"/>
                </a:lnTo>
                <a:lnTo>
                  <a:pt x="6184951" y="525424"/>
                </a:lnTo>
                <a:lnTo>
                  <a:pt x="6212909" y="510232"/>
                </a:lnTo>
                <a:cubicBezTo>
                  <a:pt x="6223574" y="506625"/>
                  <a:pt x="6235279" y="505181"/>
                  <a:pt x="6248556" y="507226"/>
                </a:cubicBezTo>
                <a:cubicBezTo>
                  <a:pt x="6294288" y="537334"/>
                  <a:pt x="6362573" y="467613"/>
                  <a:pt x="6419167" y="508015"/>
                </a:cubicBezTo>
                <a:cubicBezTo>
                  <a:pt x="6440234" y="517921"/>
                  <a:pt x="6506991" y="518278"/>
                  <a:pt x="6520553" y="499890"/>
                </a:cubicBezTo>
                <a:cubicBezTo>
                  <a:pt x="6534665" y="496161"/>
                  <a:pt x="6550555" y="503153"/>
                  <a:pt x="6557985" y="483298"/>
                </a:cubicBezTo>
                <a:cubicBezTo>
                  <a:pt x="6569810" y="459469"/>
                  <a:pt x="6616472" y="497766"/>
                  <a:pt x="6610986" y="469207"/>
                </a:cubicBezTo>
                <a:cubicBezTo>
                  <a:pt x="6644167" y="495476"/>
                  <a:pt x="6674091" y="445680"/>
                  <a:pt x="6703685" y="433885"/>
                </a:cubicBezTo>
                <a:cubicBezTo>
                  <a:pt x="6729555" y="459786"/>
                  <a:pt x="6766135" y="409500"/>
                  <a:pt x="6829686" y="404609"/>
                </a:cubicBezTo>
                <a:cubicBezTo>
                  <a:pt x="6858065" y="434525"/>
                  <a:pt x="6872501" y="400914"/>
                  <a:pt x="6926071" y="440952"/>
                </a:cubicBezTo>
                <a:cubicBezTo>
                  <a:pt x="6928018" y="437011"/>
                  <a:pt x="6930506" y="433362"/>
                  <a:pt x="6933459" y="430117"/>
                </a:cubicBezTo>
                <a:cubicBezTo>
                  <a:pt x="6950612" y="411270"/>
                  <a:pt x="6979388" y="409908"/>
                  <a:pt x="6997730" y="427075"/>
                </a:cubicBezTo>
                <a:cubicBezTo>
                  <a:pt x="7082631" y="480403"/>
                  <a:pt x="7157271" y="476334"/>
                  <a:pt x="7228068" y="485987"/>
                </a:cubicBezTo>
                <a:cubicBezTo>
                  <a:pt x="7307806" y="490694"/>
                  <a:pt x="7251469" y="427974"/>
                  <a:pt x="7353524" y="478122"/>
                </a:cubicBezTo>
                <a:cubicBezTo>
                  <a:pt x="7362883" y="455559"/>
                  <a:pt x="7375392" y="454116"/>
                  <a:pt x="7397216" y="464113"/>
                </a:cubicBezTo>
                <a:cubicBezTo>
                  <a:pt x="7435863" y="464738"/>
                  <a:pt x="7429507" y="408907"/>
                  <a:pt x="7470470" y="441338"/>
                </a:cubicBezTo>
                <a:cubicBezTo>
                  <a:pt x="7461672" y="411511"/>
                  <a:pt x="7542865" y="427363"/>
                  <a:pt x="7523162" y="396692"/>
                </a:cubicBezTo>
                <a:cubicBezTo>
                  <a:pt x="7546603" y="368516"/>
                  <a:pt x="7561752" y="413189"/>
                  <a:pt x="7585229" y="388596"/>
                </a:cubicBezTo>
                <a:cubicBezTo>
                  <a:pt x="7613007" y="382141"/>
                  <a:pt x="7571052" y="421230"/>
                  <a:pt x="7602312" y="422441"/>
                </a:cubicBezTo>
                <a:cubicBezTo>
                  <a:pt x="7639880" y="418484"/>
                  <a:pt x="7643170" y="473582"/>
                  <a:pt x="7667842" y="402184"/>
                </a:cubicBezTo>
                <a:cubicBezTo>
                  <a:pt x="7708368" y="417673"/>
                  <a:pt x="7714055" y="385770"/>
                  <a:pt x="7766955" y="367538"/>
                </a:cubicBezTo>
                <a:cubicBezTo>
                  <a:pt x="7790642" y="384091"/>
                  <a:pt x="7808202" y="374622"/>
                  <a:pt x="7824808" y="356782"/>
                </a:cubicBezTo>
                <a:cubicBezTo>
                  <a:pt x="7877588" y="358773"/>
                  <a:pt x="7923771" y="330652"/>
                  <a:pt x="7982082" y="317381"/>
                </a:cubicBezTo>
                <a:cubicBezTo>
                  <a:pt x="8047173" y="334199"/>
                  <a:pt x="8076711" y="284263"/>
                  <a:pt x="8139042" y="270278"/>
                </a:cubicBezTo>
                <a:cubicBezTo>
                  <a:pt x="8171699" y="291139"/>
                  <a:pt x="8180849" y="273703"/>
                  <a:pt x="8188479" y="250893"/>
                </a:cubicBezTo>
                <a:lnTo>
                  <a:pt x="8197460" y="227412"/>
                </a:lnTo>
                <a:lnTo>
                  <a:pt x="8236543" y="231896"/>
                </a:lnTo>
                <a:cubicBezTo>
                  <a:pt x="8252245" y="232878"/>
                  <a:pt x="8267047" y="233030"/>
                  <a:pt x="8288656" y="233518"/>
                </a:cubicBezTo>
                <a:lnTo>
                  <a:pt x="8365194" y="255354"/>
                </a:lnTo>
                <a:lnTo>
                  <a:pt x="8371093" y="253056"/>
                </a:lnTo>
                <a:cubicBezTo>
                  <a:pt x="8375220" y="251794"/>
                  <a:pt x="8378040" y="251369"/>
                  <a:pt x="8380079" y="251533"/>
                </a:cubicBezTo>
                <a:lnTo>
                  <a:pt x="8380352" y="251771"/>
                </a:lnTo>
                <a:lnTo>
                  <a:pt x="8388670" y="249803"/>
                </a:lnTo>
                <a:cubicBezTo>
                  <a:pt x="8402579" y="245856"/>
                  <a:pt x="8426713" y="256901"/>
                  <a:pt x="8439400" y="252189"/>
                </a:cubicBezTo>
                <a:cubicBezTo>
                  <a:pt x="8461985" y="253229"/>
                  <a:pt x="8486049" y="243125"/>
                  <a:pt x="8502127" y="246524"/>
                </a:cubicBezTo>
                <a:lnTo>
                  <a:pt x="8575600" y="247912"/>
                </a:lnTo>
                <a:lnTo>
                  <a:pt x="8609423" y="225288"/>
                </a:lnTo>
                <a:cubicBezTo>
                  <a:pt x="8613054" y="222366"/>
                  <a:pt x="8618682" y="220403"/>
                  <a:pt x="8628794" y="220632"/>
                </a:cubicBezTo>
                <a:lnTo>
                  <a:pt x="8631243" y="221270"/>
                </a:lnTo>
                <a:cubicBezTo>
                  <a:pt x="8636121" y="217981"/>
                  <a:pt x="8676301" y="210759"/>
                  <a:pt x="8708752" y="203517"/>
                </a:cubicBezTo>
                <a:cubicBezTo>
                  <a:pt x="8760405" y="193315"/>
                  <a:pt x="8765450" y="184312"/>
                  <a:pt x="8825952" y="177822"/>
                </a:cubicBezTo>
                <a:cubicBezTo>
                  <a:pt x="8840694" y="175283"/>
                  <a:pt x="8852337" y="172902"/>
                  <a:pt x="8862166" y="170735"/>
                </a:cubicBezTo>
                <a:lnTo>
                  <a:pt x="8884490" y="165616"/>
                </a:lnTo>
                <a:lnTo>
                  <a:pt x="8918298" y="194546"/>
                </a:lnTo>
                <a:cubicBezTo>
                  <a:pt x="8929331" y="203143"/>
                  <a:pt x="8939711" y="209096"/>
                  <a:pt x="8948572" y="207940"/>
                </a:cubicBezTo>
                <a:cubicBezTo>
                  <a:pt x="9007398" y="191013"/>
                  <a:pt x="9066382" y="123071"/>
                  <a:pt x="9104724" y="178319"/>
                </a:cubicBezTo>
                <a:cubicBezTo>
                  <a:pt x="9146350" y="170182"/>
                  <a:pt x="9159213" y="154939"/>
                  <a:pt x="9198328" y="159122"/>
                </a:cubicBezTo>
                <a:cubicBezTo>
                  <a:pt x="9243361" y="178179"/>
                  <a:pt x="9337410" y="133426"/>
                  <a:pt x="9339412" y="203422"/>
                </a:cubicBezTo>
                <a:cubicBezTo>
                  <a:pt x="9356193" y="242785"/>
                  <a:pt x="9404145" y="172882"/>
                  <a:pt x="9409165" y="216989"/>
                </a:cubicBezTo>
                <a:cubicBezTo>
                  <a:pt x="9430000" y="185563"/>
                  <a:pt x="9477391" y="226977"/>
                  <a:pt x="9516379" y="220757"/>
                </a:cubicBezTo>
                <a:cubicBezTo>
                  <a:pt x="9525989" y="239713"/>
                  <a:pt x="9601557" y="209033"/>
                  <a:pt x="9615958" y="196389"/>
                </a:cubicBezTo>
                <a:cubicBezTo>
                  <a:pt x="9740300" y="170539"/>
                  <a:pt x="9758977" y="138949"/>
                  <a:pt x="9860346" y="177067"/>
                </a:cubicBezTo>
                <a:cubicBezTo>
                  <a:pt x="9889677" y="171165"/>
                  <a:pt x="10006630" y="193672"/>
                  <a:pt x="10071193" y="142345"/>
                </a:cubicBezTo>
                <a:cubicBezTo>
                  <a:pt x="10108399" y="184331"/>
                  <a:pt x="10235527" y="166620"/>
                  <a:pt x="10270876" y="164464"/>
                </a:cubicBezTo>
                <a:cubicBezTo>
                  <a:pt x="10282938" y="193487"/>
                  <a:pt x="10335459" y="157175"/>
                  <a:pt x="10338607" y="202846"/>
                </a:cubicBezTo>
                <a:cubicBezTo>
                  <a:pt x="10349171" y="220353"/>
                  <a:pt x="10366124" y="217011"/>
                  <a:pt x="10370927" y="198630"/>
                </a:cubicBezTo>
                <a:cubicBezTo>
                  <a:pt x="10391994" y="198716"/>
                  <a:pt x="10408613" y="218644"/>
                  <a:pt x="10423650" y="187033"/>
                </a:cubicBezTo>
                <a:cubicBezTo>
                  <a:pt x="10452431" y="186111"/>
                  <a:pt x="10492877" y="246749"/>
                  <a:pt x="10507238" y="199359"/>
                </a:cubicBezTo>
                <a:cubicBezTo>
                  <a:pt x="10543427" y="261875"/>
                  <a:pt x="10653987" y="201249"/>
                  <a:pt x="10712234" y="202150"/>
                </a:cubicBezTo>
                <a:cubicBezTo>
                  <a:pt x="10824446" y="218073"/>
                  <a:pt x="10878410" y="233516"/>
                  <a:pt x="10955598" y="236823"/>
                </a:cubicBezTo>
                <a:cubicBezTo>
                  <a:pt x="11045848" y="210188"/>
                  <a:pt x="11132536" y="208078"/>
                  <a:pt x="11210395" y="197924"/>
                </a:cubicBezTo>
                <a:cubicBezTo>
                  <a:pt x="11248542" y="205602"/>
                  <a:pt x="11317163" y="98606"/>
                  <a:pt x="11355556" y="131371"/>
                </a:cubicBezTo>
                <a:cubicBezTo>
                  <a:pt x="11409097" y="114944"/>
                  <a:pt x="11452001" y="121965"/>
                  <a:pt x="11531644" y="99364"/>
                </a:cubicBezTo>
                <a:cubicBezTo>
                  <a:pt x="11597142" y="88300"/>
                  <a:pt x="11671940" y="72591"/>
                  <a:pt x="11719114" y="62439"/>
                </a:cubicBezTo>
                <a:cubicBezTo>
                  <a:pt x="11727434" y="40579"/>
                  <a:pt x="11796069" y="38621"/>
                  <a:pt x="11814686" y="38458"/>
                </a:cubicBezTo>
                <a:cubicBezTo>
                  <a:pt x="11821248" y="1152"/>
                  <a:pt x="11853228" y="33244"/>
                  <a:pt x="11865687" y="10088"/>
                </a:cubicBezTo>
                <a:cubicBezTo>
                  <a:pt x="11893768" y="15302"/>
                  <a:pt x="11926464" y="10706"/>
                  <a:pt x="11957454" y="4020"/>
                </a:cubicBezTo>
                <a:lnTo>
                  <a:pt x="11975060" y="0"/>
                </a:lnTo>
                <a:lnTo>
                  <a:pt x="12006839" y="210943"/>
                </a:lnTo>
                <a:cubicBezTo>
                  <a:pt x="12204146" y="1520595"/>
                  <a:pt x="12452801" y="3171091"/>
                  <a:pt x="12642772" y="4432052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FF9300-A1CA-4E55-783F-2A3224025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558" y="442551"/>
            <a:ext cx="7394713" cy="7133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Pit Stops Matter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3389D0BC-BA1D-4360-88F9-D9ECCBDAB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4284" y="1764254"/>
            <a:ext cx="8202766" cy="4455571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Online Media 3" title="Pit Stop in 1990 vs 2023">
            <a:hlinkClick r:id="" action="ppaction://media"/>
            <a:extLst>
              <a:ext uri="{FF2B5EF4-FFF2-40B4-BE49-F238E27FC236}">
                <a16:creationId xmlns:a16="http://schemas.microsoft.com/office/drawing/2014/main" id="{4106F120-7593-2A4C-65E6-3C9D3591C8DC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915678" y="1909483"/>
            <a:ext cx="7166438" cy="414169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75617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n-IN" sz="4700"/>
              <a:t>Research Problem &amp; Motivation</a:t>
            </a:r>
          </a:p>
        </p:txBody>
      </p:sp>
      <p:pic>
        <p:nvPicPr>
          <p:cNvPr id="5" name="Picture 4" descr="Racecar parked on the tracks">
            <a:extLst>
              <a:ext uri="{FF2B5EF4-FFF2-40B4-BE49-F238E27FC236}">
                <a16:creationId xmlns:a16="http://schemas.microsoft.com/office/drawing/2014/main" id="{B65A5011-E83F-20EF-79D2-7D1E7988F8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910" r="46201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n-US" sz="1900" dirty="0"/>
              <a:t>Pit stops are crucial in determining F1 race outcomes.</a:t>
            </a:r>
          </a:p>
          <a:p>
            <a:r>
              <a:rPr lang="en-US" sz="1900" dirty="0"/>
              <a:t>Changes in regulations, car designs, and tire types from 2018–2024 have transformed pit strategies.</a:t>
            </a:r>
          </a:p>
          <a:p>
            <a:r>
              <a:rPr lang="en-US" sz="1900" dirty="0"/>
              <a:t>The project seeks to understand and quantify these changes across seasons, teams, and tracks.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34" name="Rectangle 13333">
            <a:extLst>
              <a:ext uri="{FF2B5EF4-FFF2-40B4-BE49-F238E27FC236}">
                <a16:creationId xmlns:a16="http://schemas.microsoft.com/office/drawing/2014/main" id="{9F79630B-0F0B-446E-A637-38FA8F61D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33" name="Rectangle 13332">
            <a:extLst>
              <a:ext uri="{FF2B5EF4-FFF2-40B4-BE49-F238E27FC236}">
                <a16:creationId xmlns:a16="http://schemas.microsoft.com/office/drawing/2014/main" id="{B3437C99-FC8E-4311-B48A-F0C4C329B1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1271" y="-1"/>
            <a:ext cx="9144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76" y="609600"/>
            <a:ext cx="2696758" cy="133083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IN"/>
              <a:t>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775" y="2208850"/>
            <a:ext cx="2369056" cy="3908586"/>
          </a:xfrm>
        </p:spPr>
        <p:txBody>
          <a:bodyPr>
            <a:normAutofit/>
          </a:bodyPr>
          <a:lstStyle/>
          <a:p>
            <a:r>
              <a:rPr lang="en-US" sz="1700" dirty="0"/>
              <a:t>How have Formula 1 pit stop strategies evolved between 2018 and 2024 in terms of:</a:t>
            </a:r>
          </a:p>
          <a:p>
            <a:pPr marL="0" indent="0">
              <a:buNone/>
            </a:pPr>
            <a:r>
              <a:rPr lang="en-US" sz="1700" dirty="0"/>
              <a:t>       - Pit stop frequency</a:t>
            </a:r>
          </a:p>
          <a:p>
            <a:pPr marL="0" indent="0">
              <a:buNone/>
            </a:pPr>
            <a:r>
              <a:rPr lang="en-US" sz="1700" dirty="0"/>
              <a:t>       - Pit stop duration</a:t>
            </a:r>
          </a:p>
          <a:p>
            <a:pPr marL="0" indent="0">
              <a:buNone/>
            </a:pPr>
            <a:r>
              <a:rPr lang="en-US" sz="1700" dirty="0"/>
              <a:t>       - Tire compound     	usage</a:t>
            </a:r>
          </a:p>
          <a:p>
            <a:pPr marL="0" indent="0">
              <a:buNone/>
            </a:pPr>
            <a:r>
              <a:rPr lang="en-US" sz="1700" dirty="0"/>
              <a:t>       …across different 	teams and circuits?</a:t>
            </a:r>
          </a:p>
        </p:txBody>
      </p:sp>
      <p:pic>
        <p:nvPicPr>
          <p:cNvPr id="13314" name="Picture 2" descr="What you need to know about F1 Strategy | FORTLOC">
            <a:extLst>
              <a:ext uri="{FF2B5EF4-FFF2-40B4-BE49-F238E27FC236}">
                <a16:creationId xmlns:a16="http://schemas.microsoft.com/office/drawing/2014/main" id="{5A31F912-69A7-094F-CA7C-202A0E7B7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20" r="27540" b="-1"/>
          <a:stretch>
            <a:fillRect/>
          </a:stretch>
        </p:blipFill>
        <p:spPr bwMode="auto">
          <a:xfrm>
            <a:off x="3711141" y="1"/>
            <a:ext cx="5432859" cy="6857999"/>
          </a:xfrm>
          <a:custGeom>
            <a:avLst/>
            <a:gdLst/>
            <a:ahLst/>
            <a:cxnLst/>
            <a:rect l="l" t="t" r="r" b="b"/>
            <a:pathLst>
              <a:path w="7243812" h="6857999">
                <a:moveTo>
                  <a:pt x="609803" y="0"/>
                </a:moveTo>
                <a:lnTo>
                  <a:pt x="1222601" y="0"/>
                </a:lnTo>
                <a:lnTo>
                  <a:pt x="1223032" y="1645"/>
                </a:lnTo>
                <a:lnTo>
                  <a:pt x="1343371" y="1645"/>
                </a:lnTo>
                <a:lnTo>
                  <a:pt x="1343665" y="0"/>
                </a:lnTo>
                <a:lnTo>
                  <a:pt x="1884172" y="0"/>
                </a:lnTo>
                <a:lnTo>
                  <a:pt x="1884280" y="1645"/>
                </a:lnTo>
                <a:lnTo>
                  <a:pt x="7243812" y="1645"/>
                </a:lnTo>
                <a:lnTo>
                  <a:pt x="7243812" y="6857999"/>
                </a:lnTo>
                <a:lnTo>
                  <a:pt x="133676" y="6857999"/>
                </a:lnTo>
                <a:lnTo>
                  <a:pt x="114609" y="6843646"/>
                </a:lnTo>
                <a:cubicBezTo>
                  <a:pt x="106811" y="6836369"/>
                  <a:pt x="103243" y="6828354"/>
                  <a:pt x="111459" y="6817746"/>
                </a:cubicBezTo>
                <a:cubicBezTo>
                  <a:pt x="93943" y="6769544"/>
                  <a:pt x="97901" y="6796071"/>
                  <a:pt x="113412" y="6759582"/>
                </a:cubicBezTo>
                <a:cubicBezTo>
                  <a:pt x="110188" y="6732087"/>
                  <a:pt x="99653" y="6727133"/>
                  <a:pt x="100729" y="6705297"/>
                </a:cubicBezTo>
                <a:cubicBezTo>
                  <a:pt x="94563" y="6675394"/>
                  <a:pt x="99792" y="6669536"/>
                  <a:pt x="87662" y="6640957"/>
                </a:cubicBezTo>
                <a:cubicBezTo>
                  <a:pt x="74199" y="6591883"/>
                  <a:pt x="82185" y="6576319"/>
                  <a:pt x="83084" y="6541313"/>
                </a:cubicBezTo>
                <a:cubicBezTo>
                  <a:pt x="82225" y="6490855"/>
                  <a:pt x="67640" y="6422980"/>
                  <a:pt x="59444" y="6370251"/>
                </a:cubicBezTo>
                <a:cubicBezTo>
                  <a:pt x="51248" y="6317522"/>
                  <a:pt x="30729" y="6270972"/>
                  <a:pt x="33908" y="6224938"/>
                </a:cubicBezTo>
                <a:lnTo>
                  <a:pt x="30063" y="6089693"/>
                </a:lnTo>
                <a:cubicBezTo>
                  <a:pt x="25730" y="6032039"/>
                  <a:pt x="3474" y="5997051"/>
                  <a:pt x="29101" y="5973994"/>
                </a:cubicBezTo>
                <a:cubicBezTo>
                  <a:pt x="17018" y="5940131"/>
                  <a:pt x="41135" y="5955713"/>
                  <a:pt x="33855" y="5939847"/>
                </a:cubicBezTo>
                <a:lnTo>
                  <a:pt x="12982" y="5906467"/>
                </a:lnTo>
                <a:lnTo>
                  <a:pt x="8416" y="5862699"/>
                </a:lnTo>
                <a:cubicBezTo>
                  <a:pt x="7895" y="5838948"/>
                  <a:pt x="8409" y="5853058"/>
                  <a:pt x="12052" y="5823324"/>
                </a:cubicBezTo>
                <a:cubicBezTo>
                  <a:pt x="11631" y="5805291"/>
                  <a:pt x="11213" y="5787258"/>
                  <a:pt x="10793" y="5769225"/>
                </a:cubicBezTo>
                <a:cubicBezTo>
                  <a:pt x="17866" y="5738356"/>
                  <a:pt x="19121" y="5696311"/>
                  <a:pt x="25986" y="5667896"/>
                </a:cubicBezTo>
                <a:cubicBezTo>
                  <a:pt x="16329" y="5647975"/>
                  <a:pt x="42195" y="5619318"/>
                  <a:pt x="43687" y="5594585"/>
                </a:cubicBezTo>
                <a:cubicBezTo>
                  <a:pt x="32512" y="5517959"/>
                  <a:pt x="44052" y="5536542"/>
                  <a:pt x="40019" y="5464225"/>
                </a:cubicBezTo>
                <a:cubicBezTo>
                  <a:pt x="32676" y="5400671"/>
                  <a:pt x="26469" y="5311951"/>
                  <a:pt x="22904" y="5269726"/>
                </a:cubicBezTo>
                <a:cubicBezTo>
                  <a:pt x="19341" y="5227501"/>
                  <a:pt x="14742" y="5212581"/>
                  <a:pt x="18628" y="5210876"/>
                </a:cubicBezTo>
                <a:cubicBezTo>
                  <a:pt x="-20300" y="5161742"/>
                  <a:pt x="15511" y="5141336"/>
                  <a:pt x="5392" y="5111369"/>
                </a:cubicBezTo>
                <a:cubicBezTo>
                  <a:pt x="10662" y="5053859"/>
                  <a:pt x="15546" y="5034036"/>
                  <a:pt x="13324" y="5009272"/>
                </a:cubicBezTo>
                <a:cubicBezTo>
                  <a:pt x="25126" y="4982633"/>
                  <a:pt x="74251" y="4956261"/>
                  <a:pt x="48699" y="4925805"/>
                </a:cubicBezTo>
                <a:cubicBezTo>
                  <a:pt x="76704" y="4931200"/>
                  <a:pt x="39437" y="4888353"/>
                  <a:pt x="62925" y="4877992"/>
                </a:cubicBezTo>
                <a:cubicBezTo>
                  <a:pt x="82480" y="4871554"/>
                  <a:pt x="75731" y="4857054"/>
                  <a:pt x="79496" y="4844323"/>
                </a:cubicBezTo>
                <a:cubicBezTo>
                  <a:pt x="97657" y="4832308"/>
                  <a:pt x="110974" y="4752352"/>
                  <a:pt x="101400" y="4733115"/>
                </a:cubicBezTo>
                <a:cubicBezTo>
                  <a:pt x="108185" y="4679357"/>
                  <a:pt x="119720" y="4662889"/>
                  <a:pt x="111223" y="4625153"/>
                </a:cubicBezTo>
                <a:cubicBezTo>
                  <a:pt x="106592" y="4588197"/>
                  <a:pt x="114401" y="4567830"/>
                  <a:pt x="126359" y="4539168"/>
                </a:cubicBezTo>
                <a:cubicBezTo>
                  <a:pt x="126535" y="4522289"/>
                  <a:pt x="126710" y="4505410"/>
                  <a:pt x="126886" y="4488531"/>
                </a:cubicBezTo>
                <a:cubicBezTo>
                  <a:pt x="126165" y="4473140"/>
                  <a:pt x="132917" y="4437329"/>
                  <a:pt x="135099" y="4411258"/>
                </a:cubicBezTo>
                <a:cubicBezTo>
                  <a:pt x="107667" y="4345686"/>
                  <a:pt x="146840" y="4280033"/>
                  <a:pt x="132327" y="4219510"/>
                </a:cubicBezTo>
                <a:cubicBezTo>
                  <a:pt x="138549" y="4158987"/>
                  <a:pt x="124091" y="4192084"/>
                  <a:pt x="172424" y="4048117"/>
                </a:cubicBezTo>
                <a:cubicBezTo>
                  <a:pt x="167703" y="4015047"/>
                  <a:pt x="203806" y="3905047"/>
                  <a:pt x="177666" y="3878222"/>
                </a:cubicBezTo>
                <a:cubicBezTo>
                  <a:pt x="167714" y="3821305"/>
                  <a:pt x="183914" y="3845122"/>
                  <a:pt x="156982" y="3778166"/>
                </a:cubicBezTo>
                <a:cubicBezTo>
                  <a:pt x="160365" y="3760234"/>
                  <a:pt x="142791" y="3724716"/>
                  <a:pt x="142115" y="3707357"/>
                </a:cubicBezTo>
                <a:cubicBezTo>
                  <a:pt x="139253" y="3688591"/>
                  <a:pt x="140202" y="3672776"/>
                  <a:pt x="139805" y="3665569"/>
                </a:cubicBezTo>
                <a:cubicBezTo>
                  <a:pt x="139778" y="3665084"/>
                  <a:pt x="139750" y="3664599"/>
                  <a:pt x="139723" y="3664114"/>
                </a:cubicBezTo>
                <a:lnTo>
                  <a:pt x="134134" y="3653088"/>
                </a:lnTo>
                <a:lnTo>
                  <a:pt x="126568" y="3641228"/>
                </a:lnTo>
                <a:cubicBezTo>
                  <a:pt x="126560" y="3629488"/>
                  <a:pt x="126549" y="3617747"/>
                  <a:pt x="126540" y="3606007"/>
                </a:cubicBezTo>
                <a:lnTo>
                  <a:pt x="134645" y="3597336"/>
                </a:lnTo>
                <a:lnTo>
                  <a:pt x="131649" y="3586412"/>
                </a:lnTo>
                <a:lnTo>
                  <a:pt x="134221" y="3569719"/>
                </a:lnTo>
                <a:lnTo>
                  <a:pt x="133795" y="3568021"/>
                </a:lnTo>
                <a:lnTo>
                  <a:pt x="130189" y="3553678"/>
                </a:lnTo>
                <a:lnTo>
                  <a:pt x="129827" y="3552249"/>
                </a:lnTo>
                <a:lnTo>
                  <a:pt x="122183" y="3542019"/>
                </a:lnTo>
                <a:lnTo>
                  <a:pt x="112426" y="3531201"/>
                </a:lnTo>
                <a:lnTo>
                  <a:pt x="105626" y="3496391"/>
                </a:lnTo>
                <a:lnTo>
                  <a:pt x="111971" y="3486850"/>
                </a:lnTo>
                <a:lnTo>
                  <a:pt x="106910" y="3476412"/>
                </a:lnTo>
                <a:cubicBezTo>
                  <a:pt x="105781" y="3466028"/>
                  <a:pt x="105824" y="3433967"/>
                  <a:pt x="105209" y="3424545"/>
                </a:cubicBezTo>
                <a:lnTo>
                  <a:pt x="103215" y="3419880"/>
                </a:lnTo>
                <a:lnTo>
                  <a:pt x="104953" y="3415218"/>
                </a:lnTo>
                <a:lnTo>
                  <a:pt x="101255" y="3409825"/>
                </a:lnTo>
                <a:lnTo>
                  <a:pt x="103044" y="3407057"/>
                </a:lnTo>
                <a:lnTo>
                  <a:pt x="89764" y="3378959"/>
                </a:lnTo>
                <a:lnTo>
                  <a:pt x="83991" y="3362948"/>
                </a:lnTo>
                <a:lnTo>
                  <a:pt x="66858" y="3332072"/>
                </a:lnTo>
                <a:lnTo>
                  <a:pt x="69057" y="3325671"/>
                </a:lnTo>
                <a:lnTo>
                  <a:pt x="51631" y="3278130"/>
                </a:lnTo>
                <a:lnTo>
                  <a:pt x="53959" y="3277179"/>
                </a:lnTo>
                <a:lnTo>
                  <a:pt x="60205" y="3262610"/>
                </a:lnTo>
                <a:lnTo>
                  <a:pt x="58998" y="3258677"/>
                </a:lnTo>
                <a:cubicBezTo>
                  <a:pt x="46010" y="3210316"/>
                  <a:pt x="80872" y="3236545"/>
                  <a:pt x="45170" y="3180546"/>
                </a:cubicBezTo>
                <a:cubicBezTo>
                  <a:pt x="53643" y="3171780"/>
                  <a:pt x="52550" y="3163902"/>
                  <a:pt x="45228" y="3151828"/>
                </a:cubicBezTo>
                <a:cubicBezTo>
                  <a:pt x="39651" y="3128169"/>
                  <a:pt x="64667" y="3124610"/>
                  <a:pt x="45020" y="3103777"/>
                </a:cubicBezTo>
                <a:cubicBezTo>
                  <a:pt x="59127" y="3105196"/>
                  <a:pt x="41123" y="3057428"/>
                  <a:pt x="57092" y="3065434"/>
                </a:cubicBezTo>
                <a:cubicBezTo>
                  <a:pt x="55435" y="3051512"/>
                  <a:pt x="40803" y="3032637"/>
                  <a:pt x="35088" y="3020247"/>
                </a:cubicBezTo>
                <a:cubicBezTo>
                  <a:pt x="32503" y="3002537"/>
                  <a:pt x="18197" y="3001119"/>
                  <a:pt x="22803" y="2991092"/>
                </a:cubicBezTo>
                <a:cubicBezTo>
                  <a:pt x="24338" y="2987749"/>
                  <a:pt x="27975" y="2983455"/>
                  <a:pt x="34850" y="2977278"/>
                </a:cubicBezTo>
                <a:cubicBezTo>
                  <a:pt x="22587" y="2954448"/>
                  <a:pt x="35600" y="2946689"/>
                  <a:pt x="36223" y="2911749"/>
                </a:cubicBezTo>
                <a:cubicBezTo>
                  <a:pt x="35158" y="2886513"/>
                  <a:pt x="29761" y="2843788"/>
                  <a:pt x="28462" y="2825860"/>
                </a:cubicBezTo>
                <a:cubicBezTo>
                  <a:pt x="28449" y="2818634"/>
                  <a:pt x="28437" y="2811409"/>
                  <a:pt x="28424" y="2804183"/>
                </a:cubicBezTo>
                <a:lnTo>
                  <a:pt x="21292" y="2790136"/>
                </a:lnTo>
                <a:lnTo>
                  <a:pt x="16179" y="2760208"/>
                </a:lnTo>
                <a:lnTo>
                  <a:pt x="22858" y="2751112"/>
                </a:lnTo>
                <a:lnTo>
                  <a:pt x="18505" y="2740278"/>
                </a:lnTo>
                <a:lnTo>
                  <a:pt x="22482" y="2726489"/>
                </a:lnTo>
                <a:lnTo>
                  <a:pt x="18175" y="2725052"/>
                </a:lnTo>
                <a:lnTo>
                  <a:pt x="10521" y="2715895"/>
                </a:lnTo>
                <a:lnTo>
                  <a:pt x="25499" y="2665666"/>
                </a:lnTo>
                <a:lnTo>
                  <a:pt x="30658" y="2635351"/>
                </a:lnTo>
                <a:cubicBezTo>
                  <a:pt x="30723" y="2625597"/>
                  <a:pt x="30791" y="2615842"/>
                  <a:pt x="30857" y="2606088"/>
                </a:cubicBezTo>
                <a:lnTo>
                  <a:pt x="37532" y="2596456"/>
                </a:lnTo>
                <a:cubicBezTo>
                  <a:pt x="41239" y="2582253"/>
                  <a:pt x="34640" y="2564757"/>
                  <a:pt x="36511" y="2549900"/>
                </a:cubicBezTo>
                <a:lnTo>
                  <a:pt x="53712" y="2496499"/>
                </a:lnTo>
                <a:cubicBezTo>
                  <a:pt x="53527" y="2492743"/>
                  <a:pt x="64725" y="2449625"/>
                  <a:pt x="64540" y="2445869"/>
                </a:cubicBezTo>
                <a:cubicBezTo>
                  <a:pt x="61940" y="2441580"/>
                  <a:pt x="65575" y="2413465"/>
                  <a:pt x="64348" y="2408995"/>
                </a:cubicBezTo>
                <a:cubicBezTo>
                  <a:pt x="100333" y="2407546"/>
                  <a:pt x="71752" y="2329020"/>
                  <a:pt x="101725" y="2335735"/>
                </a:cubicBezTo>
                <a:cubicBezTo>
                  <a:pt x="120512" y="2299003"/>
                  <a:pt x="138791" y="2291744"/>
                  <a:pt x="147278" y="2260088"/>
                </a:cubicBezTo>
                <a:cubicBezTo>
                  <a:pt x="152668" y="2224200"/>
                  <a:pt x="143589" y="2220953"/>
                  <a:pt x="152643" y="2193455"/>
                </a:cubicBezTo>
                <a:cubicBezTo>
                  <a:pt x="152701" y="2159228"/>
                  <a:pt x="131577" y="2138038"/>
                  <a:pt x="161815" y="2107942"/>
                </a:cubicBezTo>
                <a:lnTo>
                  <a:pt x="168884" y="2024270"/>
                </a:lnTo>
                <a:lnTo>
                  <a:pt x="210800" y="1969445"/>
                </a:lnTo>
                <a:lnTo>
                  <a:pt x="215063" y="1961162"/>
                </a:lnTo>
                <a:lnTo>
                  <a:pt x="226767" y="1945112"/>
                </a:lnTo>
                <a:lnTo>
                  <a:pt x="225906" y="1942021"/>
                </a:lnTo>
                <a:lnTo>
                  <a:pt x="220555" y="1935584"/>
                </a:lnTo>
                <a:cubicBezTo>
                  <a:pt x="220179" y="1930292"/>
                  <a:pt x="223282" y="1914884"/>
                  <a:pt x="223648" y="1910265"/>
                </a:cubicBezTo>
                <a:cubicBezTo>
                  <a:pt x="221934" y="1909994"/>
                  <a:pt x="221895" y="1909162"/>
                  <a:pt x="222758" y="1907867"/>
                </a:cubicBezTo>
                <a:lnTo>
                  <a:pt x="229387" y="1899379"/>
                </a:lnTo>
                <a:lnTo>
                  <a:pt x="231548" y="1895114"/>
                </a:lnTo>
                <a:lnTo>
                  <a:pt x="216553" y="1892417"/>
                </a:lnTo>
                <a:cubicBezTo>
                  <a:pt x="209075" y="1884999"/>
                  <a:pt x="222114" y="1866643"/>
                  <a:pt x="209739" y="1861483"/>
                </a:cubicBezTo>
                <a:cubicBezTo>
                  <a:pt x="214584" y="1853278"/>
                  <a:pt x="219066" y="1844665"/>
                  <a:pt x="222950" y="1835810"/>
                </a:cubicBezTo>
                <a:lnTo>
                  <a:pt x="224812" y="1830569"/>
                </a:lnTo>
                <a:lnTo>
                  <a:pt x="224522" y="1830429"/>
                </a:lnTo>
                <a:cubicBezTo>
                  <a:pt x="224224" y="1829219"/>
                  <a:pt x="224571" y="1827468"/>
                  <a:pt x="225830" y="1824832"/>
                </a:cubicBezTo>
                <a:lnTo>
                  <a:pt x="228207" y="1821003"/>
                </a:lnTo>
                <a:lnTo>
                  <a:pt x="230878" y="1807109"/>
                </a:lnTo>
                <a:lnTo>
                  <a:pt x="227355" y="1805316"/>
                </a:lnTo>
                <a:lnTo>
                  <a:pt x="228132" y="1804434"/>
                </a:lnTo>
                <a:cubicBezTo>
                  <a:pt x="237533" y="1798221"/>
                  <a:pt x="248274" y="1797417"/>
                  <a:pt x="223762" y="1784314"/>
                </a:cubicBezTo>
                <a:cubicBezTo>
                  <a:pt x="240655" y="1769422"/>
                  <a:pt x="224912" y="1763793"/>
                  <a:pt x="226521" y="1740358"/>
                </a:cubicBezTo>
                <a:cubicBezTo>
                  <a:pt x="240385" y="1732435"/>
                  <a:pt x="239102" y="1724301"/>
                  <a:pt x="233164" y="1715685"/>
                </a:cubicBezTo>
                <a:cubicBezTo>
                  <a:pt x="245499" y="1694404"/>
                  <a:pt x="240415" y="1672675"/>
                  <a:pt x="245819" y="1647555"/>
                </a:cubicBezTo>
                <a:cubicBezTo>
                  <a:pt x="268668" y="1622803"/>
                  <a:pt x="248434" y="1605585"/>
                  <a:pt x="254317" y="1578752"/>
                </a:cubicBezTo>
                <a:lnTo>
                  <a:pt x="249918" y="1546022"/>
                </a:lnTo>
                <a:cubicBezTo>
                  <a:pt x="251996" y="1543635"/>
                  <a:pt x="248777" y="1521210"/>
                  <a:pt x="248927" y="1519929"/>
                </a:cubicBezTo>
                <a:lnTo>
                  <a:pt x="248704" y="1519731"/>
                </a:lnTo>
                <a:lnTo>
                  <a:pt x="252245" y="1514846"/>
                </a:lnTo>
                <a:cubicBezTo>
                  <a:pt x="255314" y="1501295"/>
                  <a:pt x="252199" y="1477394"/>
                  <a:pt x="254681" y="1463304"/>
                </a:cubicBezTo>
                <a:cubicBezTo>
                  <a:pt x="257024" y="1459891"/>
                  <a:pt x="268983" y="1432466"/>
                  <a:pt x="267138" y="1430305"/>
                </a:cubicBezTo>
                <a:lnTo>
                  <a:pt x="266110" y="1429568"/>
                </a:lnTo>
                <a:lnTo>
                  <a:pt x="286784" y="1404045"/>
                </a:lnTo>
                <a:lnTo>
                  <a:pt x="294521" y="1360879"/>
                </a:lnTo>
                <a:lnTo>
                  <a:pt x="324750" y="1301993"/>
                </a:lnTo>
                <a:lnTo>
                  <a:pt x="328780" y="1210776"/>
                </a:lnTo>
                <a:cubicBezTo>
                  <a:pt x="344171" y="1197232"/>
                  <a:pt x="343390" y="1192124"/>
                  <a:pt x="346123" y="1157176"/>
                </a:cubicBezTo>
                <a:cubicBezTo>
                  <a:pt x="359383" y="1110140"/>
                  <a:pt x="355619" y="1111028"/>
                  <a:pt x="349331" y="1063288"/>
                </a:cubicBezTo>
                <a:cubicBezTo>
                  <a:pt x="364194" y="1005331"/>
                  <a:pt x="362778" y="969963"/>
                  <a:pt x="431245" y="889417"/>
                </a:cubicBezTo>
                <a:lnTo>
                  <a:pt x="459477" y="816346"/>
                </a:lnTo>
                <a:cubicBezTo>
                  <a:pt x="465006" y="808083"/>
                  <a:pt x="496978" y="764380"/>
                  <a:pt x="489268" y="752692"/>
                </a:cubicBezTo>
                <a:lnTo>
                  <a:pt x="505368" y="724368"/>
                </a:lnTo>
                <a:lnTo>
                  <a:pt x="511178" y="722494"/>
                </a:lnTo>
                <a:lnTo>
                  <a:pt x="514451" y="717531"/>
                </a:lnTo>
                <a:cubicBezTo>
                  <a:pt x="514171" y="710761"/>
                  <a:pt x="513893" y="703992"/>
                  <a:pt x="513612" y="697222"/>
                </a:cubicBezTo>
                <a:cubicBezTo>
                  <a:pt x="513272" y="693376"/>
                  <a:pt x="513720" y="690905"/>
                  <a:pt x="514772" y="689289"/>
                </a:cubicBezTo>
                <a:lnTo>
                  <a:pt x="515249" y="689151"/>
                </a:lnTo>
                <a:cubicBezTo>
                  <a:pt x="515320" y="686637"/>
                  <a:pt x="515389" y="684122"/>
                  <a:pt x="515461" y="681608"/>
                </a:cubicBezTo>
                <a:cubicBezTo>
                  <a:pt x="522970" y="666964"/>
                  <a:pt x="551123" y="617831"/>
                  <a:pt x="560298" y="601285"/>
                </a:cubicBezTo>
                <a:cubicBezTo>
                  <a:pt x="558549" y="585107"/>
                  <a:pt x="540289" y="573171"/>
                  <a:pt x="570504" y="582332"/>
                </a:cubicBezTo>
                <a:cubicBezTo>
                  <a:pt x="570816" y="577121"/>
                  <a:pt x="573898" y="574271"/>
                  <a:pt x="578347" y="572511"/>
                </a:cubicBezTo>
                <a:lnTo>
                  <a:pt x="580375" y="572092"/>
                </a:lnTo>
                <a:lnTo>
                  <a:pt x="575722" y="536015"/>
                </a:lnTo>
                <a:lnTo>
                  <a:pt x="578705" y="531675"/>
                </a:lnTo>
                <a:lnTo>
                  <a:pt x="564084" y="491380"/>
                </a:lnTo>
                <a:cubicBezTo>
                  <a:pt x="560969" y="487340"/>
                  <a:pt x="560134" y="482008"/>
                  <a:pt x="564457" y="473782"/>
                </a:cubicBezTo>
                <a:lnTo>
                  <a:pt x="566413" y="472000"/>
                </a:lnTo>
                <a:lnTo>
                  <a:pt x="584600" y="354566"/>
                </a:lnTo>
                <a:cubicBezTo>
                  <a:pt x="586100" y="325288"/>
                  <a:pt x="584583" y="317533"/>
                  <a:pt x="588077" y="265704"/>
                </a:cubicBezTo>
                <a:cubicBezTo>
                  <a:pt x="588008" y="205530"/>
                  <a:pt x="578491" y="226511"/>
                  <a:pt x="580576" y="187093"/>
                </a:cubicBezTo>
                <a:cubicBezTo>
                  <a:pt x="579265" y="162458"/>
                  <a:pt x="569240" y="117589"/>
                  <a:pt x="587928" y="130336"/>
                </a:cubicBezTo>
                <a:cubicBezTo>
                  <a:pt x="552635" y="69804"/>
                  <a:pt x="604651" y="82036"/>
                  <a:pt x="593881" y="17287"/>
                </a:cubicBezTo>
                <a:cubicBezTo>
                  <a:pt x="600399" y="13784"/>
                  <a:pt x="605413" y="8440"/>
                  <a:pt x="609224" y="1705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80" y="1138265"/>
            <a:ext cx="3408571" cy="1401183"/>
          </a:xfrm>
        </p:spPr>
        <p:txBody>
          <a:bodyPr anchor="t">
            <a:normAutofit/>
          </a:bodyPr>
          <a:lstStyle/>
          <a:p>
            <a:r>
              <a:rPr lang="en-IN" sz="2800"/>
              <a:t>Literature Review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6096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80" y="2551176"/>
            <a:ext cx="3408571" cy="360293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300" b="1" dirty="0"/>
              <a:t>Optimization of Pit-Stop Strategies in Formula 1 Racing</a:t>
            </a:r>
            <a:endParaRPr lang="en-US" sz="1300" dirty="0"/>
          </a:p>
          <a:p>
            <a:pPr lvl="1">
              <a:lnSpc>
                <a:spcPct val="90000"/>
              </a:lnSpc>
            </a:pPr>
            <a:r>
              <a:rPr lang="en-US" sz="1300" dirty="0"/>
              <a:t>Utilizes regression-based modeling of tire wear and lap-time behavior.</a:t>
            </a:r>
          </a:p>
          <a:p>
            <a:pPr lvl="1">
              <a:lnSpc>
                <a:spcPct val="90000"/>
              </a:lnSpc>
            </a:pPr>
            <a:r>
              <a:rPr lang="en-US" sz="1300" dirty="0"/>
              <a:t>Proposes a real-time decision framework for pit strategy.</a:t>
            </a:r>
            <a:br>
              <a:rPr lang="en-US" sz="1300" dirty="0"/>
            </a:br>
            <a:r>
              <a:rPr lang="en-US" sz="1300" i="1" dirty="0"/>
              <a:t>(Carrasco &amp; </a:t>
            </a:r>
            <a:r>
              <a:rPr lang="en-US" sz="1300" i="1" dirty="0" err="1"/>
              <a:t>Thraves</a:t>
            </a:r>
            <a:r>
              <a:rPr lang="en-US" sz="1300" i="1" dirty="0"/>
              <a:t>, 2022)</a:t>
            </a:r>
            <a:endParaRPr lang="en-US" sz="1300" dirty="0"/>
          </a:p>
          <a:p>
            <a:pPr>
              <a:lnSpc>
                <a:spcPct val="90000"/>
              </a:lnSpc>
            </a:pPr>
            <a:r>
              <a:rPr lang="en-US" sz="1300" b="1" dirty="0"/>
              <a:t>On the Optimization of Pit-Stop Strategies via Dynamic Programming</a:t>
            </a:r>
            <a:endParaRPr lang="en-US" sz="1300" dirty="0"/>
          </a:p>
          <a:p>
            <a:pPr lvl="1">
              <a:lnSpc>
                <a:spcPct val="90000"/>
              </a:lnSpc>
            </a:pPr>
            <a:r>
              <a:rPr lang="en-US" sz="1300" dirty="0"/>
              <a:t>Models uncertainty using stochastic dynamic programming.</a:t>
            </a:r>
          </a:p>
          <a:p>
            <a:pPr lvl="1">
              <a:lnSpc>
                <a:spcPct val="90000"/>
              </a:lnSpc>
            </a:pPr>
            <a:r>
              <a:rPr lang="en-US" sz="1300" dirty="0"/>
              <a:t>Includes parameters like yellow flags, tire degradation, and track features.</a:t>
            </a:r>
            <a:br>
              <a:rPr lang="en-US" sz="1300" dirty="0"/>
            </a:br>
            <a:r>
              <a:rPr lang="en-US" sz="1300" i="1" dirty="0"/>
              <a:t>(Carrasco &amp; </a:t>
            </a:r>
            <a:r>
              <a:rPr lang="en-US" sz="1300" i="1" dirty="0" err="1"/>
              <a:t>Thraves</a:t>
            </a:r>
            <a:r>
              <a:rPr lang="en-US" sz="1300" i="1" dirty="0"/>
              <a:t>, 2023)</a:t>
            </a:r>
            <a:endParaRPr lang="en-US" sz="1300" dirty="0"/>
          </a:p>
          <a:p>
            <a:pPr>
              <a:lnSpc>
                <a:spcPct val="90000"/>
              </a:lnSpc>
            </a:pPr>
            <a:r>
              <a:rPr lang="en-US" sz="1300" dirty="0"/>
              <a:t>These studies provide a theoretical foundation for our regression-based modeling and race strategy simulation.</a:t>
            </a:r>
          </a:p>
          <a:p>
            <a:pPr>
              <a:lnSpc>
                <a:spcPct val="90000"/>
              </a:lnSpc>
            </a:pPr>
            <a:endParaRPr lang="en-US" sz="1300" dirty="0"/>
          </a:p>
        </p:txBody>
      </p:sp>
      <p:pic>
        <p:nvPicPr>
          <p:cNvPr id="5" name="Picture 4" descr="Racecar parked on the tracks">
            <a:extLst>
              <a:ext uri="{FF2B5EF4-FFF2-40B4-BE49-F238E27FC236}">
                <a16:creationId xmlns:a16="http://schemas.microsoft.com/office/drawing/2014/main" id="{B24F1058-7F32-37B8-534F-1CA339B744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06" r="43698"/>
          <a:stretch>
            <a:fillRect/>
          </a:stretch>
        </p:blipFill>
        <p:spPr>
          <a:xfrm>
            <a:off x="5014262" y="771753"/>
            <a:ext cx="3096218" cy="53160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 descr="Romain Grosjean, Haas F1 Team VF-18 pitstop">
            <a:extLst>
              <a:ext uri="{FF2B5EF4-FFF2-40B4-BE49-F238E27FC236}">
                <a16:creationId xmlns:a16="http://schemas.microsoft.com/office/drawing/2014/main" id="{81E8BF62-5AED-CBA8-C926-7779BE438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73" r="10839" b="-1"/>
          <a:stretch>
            <a:fillRect/>
          </a:stretch>
        </p:blipFill>
        <p:spPr bwMode="auto">
          <a:xfrm>
            <a:off x="20" y="10"/>
            <a:ext cx="72522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5" name="Rectangle 922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8707" y="365125"/>
            <a:ext cx="2866642" cy="1899912"/>
          </a:xfrm>
        </p:spPr>
        <p:txBody>
          <a:bodyPr>
            <a:normAutofit/>
          </a:bodyPr>
          <a:lstStyle/>
          <a:p>
            <a:r>
              <a:rPr lang="en-IN" sz="3500"/>
              <a:t>Theoretical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8707" y="2434201"/>
            <a:ext cx="2866642" cy="3742762"/>
          </a:xfrm>
        </p:spPr>
        <p:txBody>
          <a:bodyPr>
            <a:normAutofit/>
          </a:bodyPr>
          <a:lstStyle/>
          <a:p>
            <a:r>
              <a:rPr lang="en-US" sz="1700"/>
              <a:t>Regression: Predicting pit stop duration using lap-based metrics.</a:t>
            </a:r>
          </a:p>
          <a:p>
            <a:r>
              <a:rPr lang="en-US" sz="1700"/>
              <a:t>Dynamic Programming: Modeling sequential decision-making under uncertainty.</a:t>
            </a:r>
          </a:p>
          <a:p>
            <a:r>
              <a:rPr lang="en-US" sz="1700"/>
              <a:t>Feature engineering based on historical race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09" name="Rectangle 820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6" name="Picture 4" descr="F1 Pitstop Valtteri Bottas Mercedes Monaco 2021">
            <a:extLst>
              <a:ext uri="{FF2B5EF4-FFF2-40B4-BE49-F238E27FC236}">
                <a16:creationId xmlns:a16="http://schemas.microsoft.com/office/drawing/2014/main" id="{DAFA34C0-F24A-FAE9-50B8-DCA24A80B0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798" r="10614" b="-1"/>
          <a:stretch>
            <a:fillRect/>
          </a:stretch>
        </p:blipFill>
        <p:spPr bwMode="auto">
          <a:xfrm>
            <a:off x="20" y="10"/>
            <a:ext cx="72522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210" name="Rectangle 820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8707" y="365125"/>
            <a:ext cx="2866642" cy="1899912"/>
          </a:xfrm>
        </p:spPr>
        <p:txBody>
          <a:bodyPr>
            <a:normAutofit/>
          </a:bodyPr>
          <a:lstStyle/>
          <a:p>
            <a:r>
              <a:rPr lang="en-IN" sz="3500"/>
              <a:t>Research Design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8707" y="2434201"/>
            <a:ext cx="2866642" cy="3742762"/>
          </a:xfrm>
        </p:spPr>
        <p:txBody>
          <a:bodyPr>
            <a:normAutofit/>
          </a:bodyPr>
          <a:lstStyle/>
          <a:p>
            <a:r>
              <a:rPr lang="en-IN" sz="1700"/>
              <a:t>Data: 2018–2024 F1 pit stop dataset (cleaned, filtered).</a:t>
            </a:r>
          </a:p>
          <a:p>
            <a:r>
              <a:rPr lang="en-IN" sz="1700"/>
              <a:t>Quantitative approach with regression modeling.</a:t>
            </a:r>
          </a:p>
          <a:p>
            <a:r>
              <a:rPr lang="en-IN" sz="1700"/>
              <a:t>Variables: Pit Stop Time (target), Tire Type, Team, Track, Lap Number, etc.</a:t>
            </a:r>
          </a:p>
          <a:p>
            <a:r>
              <a:rPr lang="en-IN" sz="1700"/>
              <a:t>Tools: Python (pandas, sklearn, seaborn, matplotlib)</a:t>
            </a:r>
            <a:endParaRPr lang="en-IN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Racecar parked on the tracks">
            <a:extLst>
              <a:ext uri="{FF2B5EF4-FFF2-40B4-BE49-F238E27FC236}">
                <a16:creationId xmlns:a16="http://schemas.microsoft.com/office/drawing/2014/main" id="{E93BB614-506C-9033-5D01-5266F9264A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7562" b="-1"/>
          <a:stretch>
            <a:fillRect/>
          </a:stretch>
        </p:blipFill>
        <p:spPr>
          <a:xfrm>
            <a:off x="20" y="10"/>
            <a:ext cx="7252212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8707" y="365125"/>
            <a:ext cx="2866642" cy="1899912"/>
          </a:xfrm>
        </p:spPr>
        <p:txBody>
          <a:bodyPr>
            <a:normAutofit/>
          </a:bodyPr>
          <a:lstStyle/>
          <a:p>
            <a:r>
              <a:rPr lang="en-IN" sz="3500"/>
              <a:t>Data Preparation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1"/>
          </p:nvPr>
        </p:nvSpPr>
        <p:spPr>
          <a:xfrm>
            <a:off x="5648707" y="2434201"/>
            <a:ext cx="2866642" cy="3742762"/>
          </a:xfrm>
        </p:spPr>
        <p:txBody>
          <a:bodyPr>
            <a:normAutofit/>
          </a:bodyPr>
          <a:lstStyle/>
          <a:p>
            <a:r>
              <a:rPr lang="en-US" sz="1700"/>
              <a:t>Checked and handled missing values.</a:t>
            </a:r>
          </a:p>
          <a:p>
            <a:r>
              <a:rPr lang="en-US" sz="1700"/>
              <a:t>Removed duplicates.</a:t>
            </a:r>
          </a:p>
          <a:p>
            <a:r>
              <a:rPr lang="en-US" sz="1700"/>
              <a:t>Converted date columns, normalized numeric types.</a:t>
            </a:r>
          </a:p>
          <a:p>
            <a:r>
              <a:rPr lang="en-US" sz="1700"/>
              <a:t>Data preprocessed for model input and visualization.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 descr="Sergio Perez of Mexico driving the Oracle Red Bull Racing RB19 stops in the Pitlane during the F1 Grand Prix of Japan at Suzuka International Racing...">
            <a:extLst>
              <a:ext uri="{FF2B5EF4-FFF2-40B4-BE49-F238E27FC236}">
                <a16:creationId xmlns:a16="http://schemas.microsoft.com/office/drawing/2014/main" id="{D6C28B45-2DC2-0479-5DEE-7322A0C90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587" r="10205" b="-1"/>
          <a:stretch>
            <a:fillRect/>
          </a:stretch>
        </p:blipFill>
        <p:spPr bwMode="auto">
          <a:xfrm>
            <a:off x="20" y="10"/>
            <a:ext cx="72522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3" name="Rectangle 615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48707" y="365125"/>
            <a:ext cx="2866642" cy="1899912"/>
          </a:xfrm>
        </p:spPr>
        <p:txBody>
          <a:bodyPr>
            <a:normAutofit/>
          </a:bodyPr>
          <a:lstStyle/>
          <a:p>
            <a:r>
              <a:rPr lang="en-IN" sz="350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8707" y="2434201"/>
            <a:ext cx="2866642" cy="3742762"/>
          </a:xfrm>
        </p:spPr>
        <p:txBody>
          <a:bodyPr>
            <a:normAutofit/>
          </a:bodyPr>
          <a:lstStyle/>
          <a:p>
            <a:r>
              <a:rPr lang="en-US" sz="1700" dirty="0"/>
              <a:t>Descriptive stats for pit stop durations across teams.</a:t>
            </a:r>
          </a:p>
          <a:p>
            <a:r>
              <a:rPr lang="en-US" sz="1700" dirty="0"/>
              <a:t>Correlation matrix for numeric features.</a:t>
            </a:r>
          </a:p>
          <a:p>
            <a:r>
              <a:rPr lang="en-US" sz="1700" dirty="0"/>
              <a:t>Visualization of trends in tire usage and average pit times.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80D9C1-87D0-8909-1AC9-7C458134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015" y="196956"/>
            <a:ext cx="7344572" cy="666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569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566FFD-87F1-A938-7557-C5678D49B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608"/>
            <a:ext cx="6179574" cy="29056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F7AEBB-3A3C-5426-5AC0-E2CA0D954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448" y="3586399"/>
            <a:ext cx="5983230" cy="271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818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CB26B9-6304-BDE2-7166-C78D5D0CC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9" y="1314155"/>
            <a:ext cx="8611802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3322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9F1FFA9-D672-408C-9220-ADEEC6ABD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2072" cy="1938076"/>
          </a:xfrm>
        </p:spPr>
        <p:txBody>
          <a:bodyPr>
            <a:normAutofit/>
          </a:bodyPr>
          <a:lstStyle/>
          <a:p>
            <a:r>
              <a:rPr lang="en-IN"/>
              <a:t>Regression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82589"/>
            <a:ext cx="2862072" cy="3694373"/>
          </a:xfrm>
        </p:spPr>
        <p:txBody>
          <a:bodyPr>
            <a:normAutofit/>
          </a:bodyPr>
          <a:lstStyle/>
          <a:p>
            <a:r>
              <a:rPr lang="en-US" sz="1700" dirty="0"/>
              <a:t>Linear Regression applied to model pit stop time.</a:t>
            </a:r>
          </a:p>
          <a:p>
            <a:r>
              <a:rPr lang="en-US" sz="1700" dirty="0"/>
              <a:t>Variables: Lap number, tire compound, team, track.</a:t>
            </a:r>
          </a:p>
          <a:p>
            <a:r>
              <a:rPr lang="en-US" sz="1700" dirty="0"/>
              <a:t>Performance evaluated using R² score.</a:t>
            </a:r>
          </a:p>
          <a:p>
            <a:r>
              <a:rPr lang="en-US" sz="1700" dirty="0"/>
              <a:t>Helps identify which factors most affect pit stop performance.</a:t>
            </a:r>
          </a:p>
        </p:txBody>
      </p:sp>
      <p:pic>
        <p:nvPicPr>
          <p:cNvPr id="4" name="Picture 3" descr="Racecar parked on the tracks">
            <a:extLst>
              <a:ext uri="{FF2B5EF4-FFF2-40B4-BE49-F238E27FC236}">
                <a16:creationId xmlns:a16="http://schemas.microsoft.com/office/drawing/2014/main" id="{49B63F9B-C99E-4346-9D60-1092CF60CA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7" r="-3" b="-3"/>
          <a:stretch>
            <a:fillRect/>
          </a:stretch>
        </p:blipFill>
        <p:spPr>
          <a:xfrm>
            <a:off x="3678237" y="-4"/>
            <a:ext cx="5465763" cy="3694372"/>
          </a:xfrm>
          <a:custGeom>
            <a:avLst/>
            <a:gdLst/>
            <a:ahLst/>
            <a:cxnLst/>
            <a:rect l="l" t="t" r="r" b="b"/>
            <a:pathLst>
              <a:path w="7287684" h="3694372">
                <a:moveTo>
                  <a:pt x="1047969" y="0"/>
                </a:moveTo>
                <a:lnTo>
                  <a:pt x="7287684" y="0"/>
                </a:lnTo>
                <a:lnTo>
                  <a:pt x="7287684" y="814388"/>
                </a:lnTo>
                <a:lnTo>
                  <a:pt x="7287684" y="3694372"/>
                </a:lnTo>
                <a:lnTo>
                  <a:pt x="471411" y="3694372"/>
                </a:lnTo>
                <a:lnTo>
                  <a:pt x="470992" y="3686621"/>
                </a:lnTo>
                <a:cubicBezTo>
                  <a:pt x="458999" y="3642419"/>
                  <a:pt x="427907" y="3602236"/>
                  <a:pt x="376383" y="3554015"/>
                </a:cubicBezTo>
                <a:cubicBezTo>
                  <a:pt x="315976" y="3500438"/>
                  <a:pt x="255568" y="3454003"/>
                  <a:pt x="170288" y="3407569"/>
                </a:cubicBezTo>
                <a:cubicBezTo>
                  <a:pt x="365723" y="3382565"/>
                  <a:pt x="163181" y="3296841"/>
                  <a:pt x="230695" y="3243263"/>
                </a:cubicBezTo>
                <a:cubicBezTo>
                  <a:pt x="369276" y="3221831"/>
                  <a:pt x="479431" y="3393282"/>
                  <a:pt x="667759" y="3343275"/>
                </a:cubicBezTo>
                <a:cubicBezTo>
                  <a:pt x="440344" y="3196828"/>
                  <a:pt x="184501" y="3150393"/>
                  <a:pt x="17493" y="2953940"/>
                </a:cubicBezTo>
                <a:cubicBezTo>
                  <a:pt x="56580" y="2911078"/>
                  <a:pt x="95667" y="2953940"/>
                  <a:pt x="127647" y="2936081"/>
                </a:cubicBezTo>
                <a:cubicBezTo>
                  <a:pt x="127647" y="2925365"/>
                  <a:pt x="500751" y="2993232"/>
                  <a:pt x="522071" y="2714625"/>
                </a:cubicBezTo>
                <a:cubicBezTo>
                  <a:pt x="529178" y="2714625"/>
                  <a:pt x="536285" y="2714625"/>
                  <a:pt x="543391" y="2703909"/>
                </a:cubicBezTo>
                <a:cubicBezTo>
                  <a:pt x="582478" y="2664619"/>
                  <a:pt x="546945" y="2571750"/>
                  <a:pt x="610905" y="2564606"/>
                </a:cubicBezTo>
                <a:cubicBezTo>
                  <a:pt x="681973" y="2557462"/>
                  <a:pt x="749487" y="2525315"/>
                  <a:pt x="824107" y="2543175"/>
                </a:cubicBezTo>
                <a:cubicBezTo>
                  <a:pt x="880961" y="2557462"/>
                  <a:pt x="941368" y="2575322"/>
                  <a:pt x="1001776" y="2575322"/>
                </a:cubicBezTo>
                <a:cubicBezTo>
                  <a:pt x="1065736" y="2575322"/>
                  <a:pt x="1154570" y="2696766"/>
                  <a:pt x="1193658" y="2536031"/>
                </a:cubicBezTo>
                <a:cubicBezTo>
                  <a:pt x="1193658" y="2528888"/>
                  <a:pt x="1303812" y="2546747"/>
                  <a:pt x="1364219" y="2553891"/>
                </a:cubicBezTo>
                <a:cubicBezTo>
                  <a:pt x="1413966" y="2561035"/>
                  <a:pt x="1474374" y="2593181"/>
                  <a:pt x="1509907" y="2528888"/>
                </a:cubicBezTo>
                <a:cubicBezTo>
                  <a:pt x="1527674" y="2489596"/>
                  <a:pt x="1442393" y="2418159"/>
                  <a:pt x="1367772" y="2411015"/>
                </a:cubicBezTo>
                <a:cubicBezTo>
                  <a:pt x="1300259" y="2403872"/>
                  <a:pt x="1232745" y="2396728"/>
                  <a:pt x="1168784" y="2411015"/>
                </a:cubicBezTo>
                <a:cubicBezTo>
                  <a:pt x="1090610" y="2428875"/>
                  <a:pt x="1047969" y="2400300"/>
                  <a:pt x="1026649" y="2336007"/>
                </a:cubicBezTo>
                <a:cubicBezTo>
                  <a:pt x="1001776" y="2268141"/>
                  <a:pt x="955582" y="2232422"/>
                  <a:pt x="891621" y="2200275"/>
                </a:cubicBezTo>
                <a:cubicBezTo>
                  <a:pt x="735273" y="2121694"/>
                  <a:pt x="586032" y="2028825"/>
                  <a:pt x="415470" y="1982390"/>
                </a:cubicBezTo>
                <a:cubicBezTo>
                  <a:pt x="383490" y="1975246"/>
                  <a:pt x="344403" y="1960959"/>
                  <a:pt x="330189" y="1900238"/>
                </a:cubicBezTo>
                <a:cubicBezTo>
                  <a:pt x="792127" y="1993106"/>
                  <a:pt x="1211424" y="2232422"/>
                  <a:pt x="1687576" y="2218135"/>
                </a:cubicBezTo>
                <a:cubicBezTo>
                  <a:pt x="1559654" y="2143125"/>
                  <a:pt x="1406860" y="2139554"/>
                  <a:pt x="1268278" y="2085975"/>
                </a:cubicBezTo>
                <a:cubicBezTo>
                  <a:pt x="1367772" y="2046685"/>
                  <a:pt x="1460160" y="2089547"/>
                  <a:pt x="1552548" y="2110978"/>
                </a:cubicBezTo>
                <a:cubicBezTo>
                  <a:pt x="1630722" y="2128837"/>
                  <a:pt x="1701789" y="2132410"/>
                  <a:pt x="1708896" y="2021681"/>
                </a:cubicBezTo>
                <a:cubicBezTo>
                  <a:pt x="1708896" y="2010965"/>
                  <a:pt x="1708896" y="2003821"/>
                  <a:pt x="1708896" y="1993106"/>
                </a:cubicBezTo>
                <a:cubicBezTo>
                  <a:pt x="1680469" y="1946672"/>
                  <a:pt x="1641382" y="1925240"/>
                  <a:pt x="1591635" y="1910953"/>
                </a:cubicBezTo>
                <a:cubicBezTo>
                  <a:pt x="1563208" y="1903809"/>
                  <a:pt x="1524121" y="1889522"/>
                  <a:pt x="1524121" y="1857375"/>
                </a:cubicBezTo>
                <a:cubicBezTo>
                  <a:pt x="1527674" y="1735931"/>
                  <a:pt x="1431733" y="1700212"/>
                  <a:pt x="1339346" y="1664493"/>
                </a:cubicBezTo>
                <a:cubicBezTo>
                  <a:pt x="1389093" y="1603772"/>
                  <a:pt x="1431733" y="1646635"/>
                  <a:pt x="1470820" y="1643062"/>
                </a:cubicBezTo>
                <a:cubicBezTo>
                  <a:pt x="1495694" y="1639491"/>
                  <a:pt x="1520567" y="1635919"/>
                  <a:pt x="1520567" y="1603772"/>
                </a:cubicBezTo>
                <a:cubicBezTo>
                  <a:pt x="1520567" y="1578769"/>
                  <a:pt x="1509907" y="1546622"/>
                  <a:pt x="1485034" y="1546622"/>
                </a:cubicBezTo>
                <a:cubicBezTo>
                  <a:pt x="1328686" y="1543050"/>
                  <a:pt x="1239851" y="1371600"/>
                  <a:pt x="1076396" y="1371600"/>
                </a:cubicBezTo>
                <a:cubicBezTo>
                  <a:pt x="976902" y="1371600"/>
                  <a:pt x="1126144" y="1275159"/>
                  <a:pt x="1044416" y="1235869"/>
                </a:cubicBezTo>
                <a:cubicBezTo>
                  <a:pt x="1026649" y="1225153"/>
                  <a:pt x="1094163" y="1210866"/>
                  <a:pt x="1122590" y="1214437"/>
                </a:cubicBezTo>
                <a:cubicBezTo>
                  <a:pt x="1151017" y="1218009"/>
                  <a:pt x="1175891" y="1243013"/>
                  <a:pt x="1211424" y="1225153"/>
                </a:cubicBezTo>
                <a:cubicBezTo>
                  <a:pt x="1229191" y="1160860"/>
                  <a:pt x="1182997" y="1135856"/>
                  <a:pt x="1140357" y="1117997"/>
                </a:cubicBezTo>
                <a:cubicBezTo>
                  <a:pt x="1047969" y="1075135"/>
                  <a:pt x="955582" y="1025129"/>
                  <a:pt x="852534" y="1010841"/>
                </a:cubicBezTo>
                <a:cubicBezTo>
                  <a:pt x="817001" y="1007269"/>
                  <a:pt x="795680" y="989409"/>
                  <a:pt x="799234" y="953690"/>
                </a:cubicBezTo>
                <a:cubicBezTo>
                  <a:pt x="806340" y="907256"/>
                  <a:pt x="841874" y="921544"/>
                  <a:pt x="870301" y="925115"/>
                </a:cubicBezTo>
                <a:cubicBezTo>
                  <a:pt x="888068" y="928688"/>
                  <a:pt x="905835" y="939403"/>
                  <a:pt x="923602" y="914400"/>
                </a:cubicBezTo>
                <a:cubicBezTo>
                  <a:pt x="611794" y="724198"/>
                  <a:pt x="409919" y="684684"/>
                  <a:pt x="132090" y="589415"/>
                </a:cubicBezTo>
                <a:lnTo>
                  <a:pt x="31922" y="552917"/>
                </a:lnTo>
                <a:lnTo>
                  <a:pt x="26859" y="541335"/>
                </a:lnTo>
                <a:cubicBezTo>
                  <a:pt x="20137" y="534929"/>
                  <a:pt x="8953" y="532232"/>
                  <a:pt x="0" y="527681"/>
                </a:cubicBezTo>
                <a:cubicBezTo>
                  <a:pt x="5969" y="516305"/>
                  <a:pt x="7617" y="502963"/>
                  <a:pt x="17905" y="493550"/>
                </a:cubicBezTo>
                <a:cubicBezTo>
                  <a:pt x="23947" y="488022"/>
                  <a:pt x="35344" y="487159"/>
                  <a:pt x="44763" y="486724"/>
                </a:cubicBezTo>
                <a:lnTo>
                  <a:pt x="165722" y="483650"/>
                </a:lnTo>
                <a:lnTo>
                  <a:pt x="193385" y="498723"/>
                </a:lnTo>
                <a:cubicBezTo>
                  <a:pt x="210263" y="511671"/>
                  <a:pt x="227142" y="525066"/>
                  <a:pt x="315976" y="535781"/>
                </a:cubicBezTo>
                <a:cubicBezTo>
                  <a:pt x="401257" y="546497"/>
                  <a:pt x="479431" y="582216"/>
                  <a:pt x="575372" y="525066"/>
                </a:cubicBezTo>
                <a:cubicBezTo>
                  <a:pt x="639332" y="485775"/>
                  <a:pt x="742380" y="528637"/>
                  <a:pt x="820554" y="560785"/>
                </a:cubicBezTo>
                <a:cubicBezTo>
                  <a:pt x="884515" y="589360"/>
                  <a:pt x="948475" y="596503"/>
                  <a:pt x="1033756" y="560785"/>
                </a:cubicBezTo>
                <a:cubicBezTo>
                  <a:pt x="955582" y="539354"/>
                  <a:pt x="895175" y="521494"/>
                  <a:pt x="834767" y="507206"/>
                </a:cubicBezTo>
                <a:cubicBezTo>
                  <a:pt x="785020" y="496491"/>
                  <a:pt x="756593" y="471488"/>
                  <a:pt x="760147" y="417909"/>
                </a:cubicBezTo>
                <a:cubicBezTo>
                  <a:pt x="760147" y="389334"/>
                  <a:pt x="749487" y="350044"/>
                  <a:pt x="785020" y="335757"/>
                </a:cubicBezTo>
                <a:cubicBezTo>
                  <a:pt x="813447" y="321469"/>
                  <a:pt x="852534" y="335757"/>
                  <a:pt x="866748" y="360759"/>
                </a:cubicBezTo>
                <a:cubicBezTo>
                  <a:pt x="884515" y="407194"/>
                  <a:pt x="902281" y="450056"/>
                  <a:pt x="962689" y="453629"/>
                </a:cubicBezTo>
                <a:cubicBezTo>
                  <a:pt x="1044416" y="460771"/>
                  <a:pt x="998222" y="432197"/>
                  <a:pt x="984009" y="396478"/>
                </a:cubicBezTo>
                <a:cubicBezTo>
                  <a:pt x="969795" y="357188"/>
                  <a:pt x="1012436" y="346472"/>
                  <a:pt x="1040863" y="353615"/>
                </a:cubicBezTo>
                <a:cubicBezTo>
                  <a:pt x="1147464" y="385763"/>
                  <a:pt x="1257618" y="328613"/>
                  <a:pt x="1367772" y="375047"/>
                </a:cubicBezTo>
                <a:cubicBezTo>
                  <a:pt x="1339346" y="260747"/>
                  <a:pt x="1278938" y="210741"/>
                  <a:pt x="1151017" y="192881"/>
                </a:cubicBezTo>
                <a:cubicBezTo>
                  <a:pt x="1104823" y="189310"/>
                  <a:pt x="1055076" y="196453"/>
                  <a:pt x="1012436" y="164306"/>
                </a:cubicBezTo>
                <a:cubicBezTo>
                  <a:pt x="987562" y="146447"/>
                  <a:pt x="962689" y="125016"/>
                  <a:pt x="980456" y="89297"/>
                </a:cubicBezTo>
                <a:cubicBezTo>
                  <a:pt x="991116" y="64294"/>
                  <a:pt x="1019542" y="64294"/>
                  <a:pt x="1044416" y="71437"/>
                </a:cubicBezTo>
                <a:cubicBezTo>
                  <a:pt x="1147464" y="110728"/>
                  <a:pt x="1257618" y="121444"/>
                  <a:pt x="1364219" y="135731"/>
                </a:cubicBezTo>
                <a:cubicBezTo>
                  <a:pt x="1381986" y="139303"/>
                  <a:pt x="1399753" y="146447"/>
                  <a:pt x="1417520" y="110728"/>
                </a:cubicBezTo>
                <a:cubicBezTo>
                  <a:pt x="1293152" y="78581"/>
                  <a:pt x="1172337" y="35719"/>
                  <a:pt x="1047969" y="0"/>
                </a:cubicBezTo>
                <a:close/>
              </a:path>
            </a:pathLst>
          </a:custGeom>
        </p:spPr>
      </p:pic>
      <p:pic>
        <p:nvPicPr>
          <p:cNvPr id="5" name="Picture 4" descr="A herd of wild horses running on the water">
            <a:extLst>
              <a:ext uri="{FF2B5EF4-FFF2-40B4-BE49-F238E27FC236}">
                <a16:creationId xmlns:a16="http://schemas.microsoft.com/office/drawing/2014/main" id="{729BBF3D-4484-EEA3-1ACB-600EB6D7B1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171" r="2" b="7164"/>
          <a:stretch>
            <a:fillRect/>
          </a:stretch>
        </p:blipFill>
        <p:spPr>
          <a:xfrm>
            <a:off x="3545046" y="3802961"/>
            <a:ext cx="5604285" cy="3055043"/>
          </a:xfrm>
          <a:custGeom>
            <a:avLst/>
            <a:gdLst/>
            <a:ahLst/>
            <a:cxnLst/>
            <a:rect l="l" t="t" r="r" b="b"/>
            <a:pathLst>
              <a:path w="7472381" h="3055043">
                <a:moveTo>
                  <a:pt x="638975" y="0"/>
                </a:moveTo>
                <a:lnTo>
                  <a:pt x="7472381" y="0"/>
                </a:lnTo>
                <a:lnTo>
                  <a:pt x="7472381" y="2579984"/>
                </a:lnTo>
                <a:lnTo>
                  <a:pt x="7472381" y="3055043"/>
                </a:lnTo>
                <a:lnTo>
                  <a:pt x="6992676" y="3055043"/>
                </a:lnTo>
                <a:lnTo>
                  <a:pt x="1946893" y="3055043"/>
                </a:lnTo>
                <a:cubicBezTo>
                  <a:pt x="1801205" y="2983605"/>
                  <a:pt x="1662624" y="2897880"/>
                  <a:pt x="1506276" y="2855018"/>
                </a:cubicBezTo>
                <a:cubicBezTo>
                  <a:pt x="1399675" y="2826443"/>
                  <a:pt x="1296627" y="2776437"/>
                  <a:pt x="1314394" y="2626417"/>
                </a:cubicBezTo>
                <a:cubicBezTo>
                  <a:pt x="1317947" y="2583555"/>
                  <a:pt x="1289520" y="2551409"/>
                  <a:pt x="1246880" y="2562124"/>
                </a:cubicBezTo>
                <a:cubicBezTo>
                  <a:pt x="1165153" y="2583555"/>
                  <a:pt x="1126065" y="2522833"/>
                  <a:pt x="1079872" y="2476399"/>
                </a:cubicBezTo>
                <a:cubicBezTo>
                  <a:pt x="998144" y="2394247"/>
                  <a:pt x="919970" y="2308520"/>
                  <a:pt x="788495" y="2294233"/>
                </a:cubicBezTo>
                <a:cubicBezTo>
                  <a:pt x="813369" y="2229939"/>
                  <a:pt x="856009" y="2237083"/>
                  <a:pt x="895097" y="2251371"/>
                </a:cubicBezTo>
                <a:cubicBezTo>
                  <a:pt x="998144" y="2287090"/>
                  <a:pt x="1101192" y="2326380"/>
                  <a:pt x="1204239" y="2362099"/>
                </a:cubicBezTo>
                <a:cubicBezTo>
                  <a:pt x="1271754" y="2383530"/>
                  <a:pt x="1339267" y="2415677"/>
                  <a:pt x="1428102" y="2390674"/>
                </a:cubicBezTo>
                <a:cubicBezTo>
                  <a:pt x="1349928" y="2262087"/>
                  <a:pt x="1218453" y="2237083"/>
                  <a:pt x="1111852" y="2197793"/>
                </a:cubicBezTo>
                <a:cubicBezTo>
                  <a:pt x="980377" y="2147787"/>
                  <a:pt x="902203" y="2054918"/>
                  <a:pt x="806262" y="1947762"/>
                </a:cubicBezTo>
                <a:cubicBezTo>
                  <a:pt x="902203" y="1919187"/>
                  <a:pt x="962610" y="1997768"/>
                  <a:pt x="1040785" y="1994196"/>
                </a:cubicBezTo>
                <a:cubicBezTo>
                  <a:pt x="1044338" y="1983480"/>
                  <a:pt x="1051445" y="1962049"/>
                  <a:pt x="1051445" y="1962049"/>
                </a:cubicBezTo>
                <a:cubicBezTo>
                  <a:pt x="923523" y="1904899"/>
                  <a:pt x="866670" y="1797743"/>
                  <a:pt x="845349" y="1665583"/>
                </a:cubicBezTo>
                <a:cubicBezTo>
                  <a:pt x="838243" y="1597718"/>
                  <a:pt x="792049" y="1576287"/>
                  <a:pt x="745855" y="1544140"/>
                </a:cubicBezTo>
                <a:cubicBezTo>
                  <a:pt x="589507" y="1433411"/>
                  <a:pt x="422499" y="1333399"/>
                  <a:pt x="291024" y="1183381"/>
                </a:cubicBezTo>
                <a:cubicBezTo>
                  <a:pt x="443819" y="1201239"/>
                  <a:pt x="564633" y="1301252"/>
                  <a:pt x="724535" y="1344115"/>
                </a:cubicBezTo>
                <a:cubicBezTo>
                  <a:pt x="596614" y="1179808"/>
                  <a:pt x="429605" y="1094083"/>
                  <a:pt x="276811" y="994071"/>
                </a:cubicBezTo>
                <a:cubicBezTo>
                  <a:pt x="205743" y="947637"/>
                  <a:pt x="141783" y="890486"/>
                  <a:pt x="60055" y="865484"/>
                </a:cubicBezTo>
                <a:cubicBezTo>
                  <a:pt x="31628" y="858340"/>
                  <a:pt x="-18119" y="840481"/>
                  <a:pt x="6755" y="790474"/>
                </a:cubicBezTo>
                <a:cubicBezTo>
                  <a:pt x="28075" y="747612"/>
                  <a:pt x="67162" y="761900"/>
                  <a:pt x="102696" y="772614"/>
                </a:cubicBezTo>
                <a:cubicBezTo>
                  <a:pt x="187976" y="801190"/>
                  <a:pt x="280364" y="801190"/>
                  <a:pt x="397625" y="801190"/>
                </a:cubicBezTo>
                <a:cubicBezTo>
                  <a:pt x="298131" y="665458"/>
                  <a:pt x="116909" y="708321"/>
                  <a:pt x="31628" y="565446"/>
                </a:cubicBezTo>
                <a:cubicBezTo>
                  <a:pt x="138229" y="540444"/>
                  <a:pt x="219957" y="590450"/>
                  <a:pt x="305237" y="601165"/>
                </a:cubicBezTo>
                <a:cubicBezTo>
                  <a:pt x="383412" y="611881"/>
                  <a:pt x="401178" y="586877"/>
                  <a:pt x="383412" y="508296"/>
                </a:cubicBezTo>
                <a:cubicBezTo>
                  <a:pt x="354985" y="386853"/>
                  <a:pt x="397625" y="326130"/>
                  <a:pt x="511333" y="358278"/>
                </a:cubicBezTo>
                <a:cubicBezTo>
                  <a:pt x="617934" y="390424"/>
                  <a:pt x="628594" y="343990"/>
                  <a:pt x="600167" y="276124"/>
                </a:cubicBezTo>
                <a:cubicBezTo>
                  <a:pt x="557527" y="176112"/>
                  <a:pt x="603720" y="97531"/>
                  <a:pt x="635701" y="11805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89DBAF3-39C6-6F30-FFAF-BA29AA70D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29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Feature importance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E8F7D85-56AF-FDC9-AA3B-684BAE5D5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608" y="1574020"/>
            <a:ext cx="5938392" cy="3028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8732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B480E9-56C9-EB36-9B72-85B8755E38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9239" y="3486401"/>
            <a:ext cx="6061587" cy="33715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2297EE9-7214-F871-8038-116FB80237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8010041" cy="347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8471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acecar parked on the tracks">
            <a:extLst>
              <a:ext uri="{FF2B5EF4-FFF2-40B4-BE49-F238E27FC236}">
                <a16:creationId xmlns:a16="http://schemas.microsoft.com/office/drawing/2014/main" id="{3E22A025-BA67-F999-8189-513A1E776F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90" r="43381" b="-1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IN" sz="3500"/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US" sz="1700" dirty="0"/>
              <a:t>Notable trends in reduced pit time across top teams (e.g., Red Bull, Ferrari).</a:t>
            </a:r>
          </a:p>
          <a:p>
            <a:r>
              <a:rPr lang="en-US" sz="1700" dirty="0"/>
              <a:t>Tire compound and lap number significantly affect pit durations.</a:t>
            </a:r>
          </a:p>
          <a:p>
            <a:r>
              <a:rPr lang="en-US" sz="1700" dirty="0"/>
              <a:t>Strategies vary by track type and weather-related conditions.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B050B4-F2EC-245C-23B0-35379D312D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68" y="693174"/>
            <a:ext cx="8411261" cy="482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4912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C83B7C-071E-BEF8-5566-632760E6E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4" y="604684"/>
            <a:ext cx="9098146" cy="48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5797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41415C-388B-D095-9B93-27C02FD07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375" y="1312606"/>
            <a:ext cx="8630775" cy="397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859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EE100F7-544D-4B56-7C52-B521A93EA2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5" r="24157" b="-1"/>
          <a:stretch>
            <a:fillRect/>
          </a:stretch>
        </p:blipFill>
        <p:spPr bwMode="auto">
          <a:xfrm>
            <a:off x="1891767" y="10"/>
            <a:ext cx="725223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1" name="Rectangle 3080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IN" sz="3500"/>
              <a:t>Interpretation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r>
              <a:rPr lang="en-US" sz="1700" dirty="0"/>
              <a:t>Findings align with dynamic decision theory from literature.</a:t>
            </a:r>
          </a:p>
          <a:p>
            <a:r>
              <a:rPr lang="en-US" sz="1700" dirty="0"/>
              <a:t>Teams appear to adapt strategies based on regulation and performance constraints.</a:t>
            </a:r>
          </a:p>
          <a:p>
            <a:r>
              <a:rPr lang="en-US" sz="1700" dirty="0"/>
              <a:t>Some anomalies suggest potential team-specific strategies worth deeper review.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1" name="Rectangle 207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Aston Martin's Spanish driver Fernando Alonso celebrates on the podium with the third place trophy after the Bahrain Formula One Grand Prix at the...">
            <a:extLst>
              <a:ext uri="{FF2B5EF4-FFF2-40B4-BE49-F238E27FC236}">
                <a16:creationId xmlns:a16="http://schemas.microsoft.com/office/drawing/2014/main" id="{EE3C84E1-0F6D-DE59-932D-EB32E47253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56" r="22955" b="-1"/>
          <a:stretch>
            <a:fillRect/>
          </a:stretch>
        </p:blipFill>
        <p:spPr bwMode="auto">
          <a:xfrm>
            <a:off x="1891767" y="10"/>
            <a:ext cx="7252231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73" name="Rectangle 207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42696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2866641" cy="1899912"/>
          </a:xfrm>
        </p:spPr>
        <p:txBody>
          <a:bodyPr>
            <a:normAutofit/>
          </a:bodyPr>
          <a:lstStyle/>
          <a:p>
            <a:r>
              <a:rPr lang="en-IN" sz="3500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34201"/>
            <a:ext cx="2866641" cy="3742762"/>
          </a:xfrm>
        </p:spPr>
        <p:txBody>
          <a:bodyPr>
            <a:normAutofit/>
          </a:bodyPr>
          <a:lstStyle/>
          <a:p>
            <a:r>
              <a:rPr lang="en-US" sz="1700" dirty="0"/>
              <a:t>Pit stop strategies have become more data-driven over time.</a:t>
            </a:r>
          </a:p>
          <a:p>
            <a:r>
              <a:rPr lang="en-US" sz="1700" dirty="0"/>
              <a:t>Key variables include tire compound and lap strategy.</a:t>
            </a:r>
          </a:p>
          <a:p>
            <a:r>
              <a:rPr lang="en-US" sz="1700" dirty="0"/>
              <a:t>Teams continuously optimize based on competition and real-time variables.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IN" sz="3100"/>
              <a:t>Future Research</a:t>
            </a:r>
          </a:p>
        </p:txBody>
      </p:sp>
      <p:pic>
        <p:nvPicPr>
          <p:cNvPr id="10242" name="Picture 2" descr="r/formula1 - Futuristic F1 car design by Antonio Paglia">
            <a:extLst>
              <a:ext uri="{FF2B5EF4-FFF2-40B4-BE49-F238E27FC236}">
                <a16:creationId xmlns:a16="http://schemas.microsoft.com/office/drawing/2014/main" id="{47CF9A33-6F3A-9353-C0DB-A70929FC1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54" b="17757"/>
          <a:stretch>
            <a:fillRect/>
          </a:stretch>
        </p:blipFill>
        <p:spPr bwMode="auto"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67986" y="3752850"/>
            <a:ext cx="5614060" cy="2452687"/>
          </a:xfrm>
        </p:spPr>
        <p:txBody>
          <a:bodyPr anchor="ctr">
            <a:normAutofit/>
          </a:bodyPr>
          <a:lstStyle/>
          <a:p>
            <a:r>
              <a:rPr lang="en-US" sz="1600" dirty="0"/>
              <a:t>Integrate weather and traffic data for enhanced prediction.</a:t>
            </a:r>
          </a:p>
          <a:p>
            <a:r>
              <a:rPr lang="en-US" sz="1600" dirty="0"/>
              <a:t>Use machine learning models (</a:t>
            </a:r>
            <a:r>
              <a:rPr lang="en-US" sz="1600" dirty="0" err="1"/>
              <a:t>XGBoost</a:t>
            </a:r>
            <a:r>
              <a:rPr lang="en-US" sz="1600" dirty="0"/>
              <a:t>, LSTM) for better forecasting.</a:t>
            </a:r>
          </a:p>
          <a:p>
            <a:r>
              <a:rPr lang="en-US" sz="1600" dirty="0"/>
              <a:t>Evaluate effect of rule changes across seasons.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759" y="3752849"/>
            <a:ext cx="2468166" cy="2452687"/>
          </a:xfrm>
        </p:spPr>
        <p:txBody>
          <a:bodyPr anchor="ctr">
            <a:normAutofit/>
          </a:bodyPr>
          <a:lstStyle/>
          <a:p>
            <a:r>
              <a:rPr lang="en-IN" sz="3100"/>
              <a:t>References</a:t>
            </a:r>
          </a:p>
        </p:txBody>
      </p:sp>
      <p:pic>
        <p:nvPicPr>
          <p:cNvPr id="11268" name="Picture 4" descr="In pictures: Driver debuts and new faces on final day of F1 2024">
            <a:extLst>
              <a:ext uri="{FF2B5EF4-FFF2-40B4-BE49-F238E27FC236}">
                <a16:creationId xmlns:a16="http://schemas.microsoft.com/office/drawing/2014/main" id="{3EBA4560-8EC5-36F4-4ACC-522121D64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26" b="11152"/>
          <a:stretch>
            <a:fillRect/>
          </a:stretch>
        </p:blipFill>
        <p:spPr bwMode="auto">
          <a:xfrm>
            <a:off x="20" y="10"/>
            <a:ext cx="9143980" cy="3710603"/>
          </a:xfrm>
          <a:custGeom>
            <a:avLst/>
            <a:gdLst/>
            <a:ahLst/>
            <a:cxnLst/>
            <a:rect l="l" t="t" r="r" b="b"/>
            <a:pathLst>
              <a:path w="12192000" h="3692092">
                <a:moveTo>
                  <a:pt x="0" y="0"/>
                </a:moveTo>
                <a:lnTo>
                  <a:pt x="12192000" y="0"/>
                </a:lnTo>
                <a:lnTo>
                  <a:pt x="12192000" y="3504824"/>
                </a:lnTo>
                <a:lnTo>
                  <a:pt x="12024691" y="3517794"/>
                </a:lnTo>
                <a:cubicBezTo>
                  <a:pt x="8077523" y="3783195"/>
                  <a:pt x="4094678" y="3026959"/>
                  <a:pt x="160485" y="3663863"/>
                </a:cubicBezTo>
                <a:lnTo>
                  <a:pt x="0" y="369209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969CBA45-E838-9964-5A1E-27DDB5614F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67986" y="3752850"/>
            <a:ext cx="5614060" cy="245268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Carrasco, J., &amp; Thraves, A. (2022). </a:t>
            </a:r>
            <a:r>
              <a:rPr kumimoji="0" lang="en-US" altLang="en-US" sz="16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Optimization of Pit-Stop Strategies in Formula 1 Racing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Carrasco, J., &amp; Thraves, A. (2023). </a:t>
            </a:r>
            <a:r>
              <a:rPr kumimoji="0" lang="en-US" altLang="en-US" sz="16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On the Optimization of Pit-Stop Strategies via Dynamic Programming</a:t>
            </a: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F1 Pit Stop Dataset (2018–2024).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Python Libraries: pandas, sklearn, seaborn, matplotlib.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3" name="Rectangle 14342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9E33A1C3-FB1F-815B-916D-4FA37D27D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97"/>
          <a:stretch>
            <a:fillRect/>
          </a:stretch>
        </p:blipFill>
        <p:spPr bwMode="auto">
          <a:xfrm>
            <a:off x="20" y="1"/>
            <a:ext cx="914398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9D9284-ABF1-1CDA-4A35-875DCCDE0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2"/>
            <a:ext cx="6858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Thank You!</a:t>
            </a:r>
            <a:endParaRPr lang="en-I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519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586</Words>
  <Application>Microsoft Office PowerPoint</Application>
  <PresentationFormat>On-screen Show (4:3)</PresentationFormat>
  <Paragraphs>79</Paragraphs>
  <Slides>24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Arial</vt:lpstr>
      <vt:lpstr>Calibri</vt:lpstr>
      <vt:lpstr>Office Theme</vt:lpstr>
      <vt:lpstr>Evolution of Pit Stop Strategies in Formula 1</vt:lpstr>
      <vt:lpstr>Why Pit Stops Matter</vt:lpstr>
      <vt:lpstr>Research Problem &amp; Motivation</vt:lpstr>
      <vt:lpstr>Research Question</vt:lpstr>
      <vt:lpstr>Literature Review</vt:lpstr>
      <vt:lpstr>Theoretical Background</vt:lpstr>
      <vt:lpstr>Research Design &amp; Methodology</vt:lpstr>
      <vt:lpstr>Data Preparation</vt:lpstr>
      <vt:lpstr>Exploratory Data Analysis</vt:lpstr>
      <vt:lpstr>PowerPoint Presentation</vt:lpstr>
      <vt:lpstr>PowerPoint Presentation</vt:lpstr>
      <vt:lpstr>PowerPoint Presentation</vt:lpstr>
      <vt:lpstr>Regression Analysis</vt:lpstr>
      <vt:lpstr>Feature importance</vt:lpstr>
      <vt:lpstr>PowerPoint Presentation</vt:lpstr>
      <vt:lpstr>Results</vt:lpstr>
      <vt:lpstr>PowerPoint Presentation</vt:lpstr>
      <vt:lpstr>PowerPoint Presentation</vt:lpstr>
      <vt:lpstr>PowerPoint Presentation</vt:lpstr>
      <vt:lpstr>Interpretation &amp; Discussion</vt:lpstr>
      <vt:lpstr>Conclusion</vt:lpstr>
      <vt:lpstr>Future Research</vt:lpstr>
      <vt:lpstr>References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Faiz Karol</dc:creator>
  <cp:keywords/>
  <dc:description>generated using python-pptx</dc:description>
  <cp:lastModifiedBy>Faiz Karol</cp:lastModifiedBy>
  <cp:revision>5</cp:revision>
  <dcterms:created xsi:type="dcterms:W3CDTF">2013-01-27T09:14:16Z</dcterms:created>
  <dcterms:modified xsi:type="dcterms:W3CDTF">2026-05-24T17:10:05Z</dcterms:modified>
  <cp:category/>
</cp:coreProperties>
</file>